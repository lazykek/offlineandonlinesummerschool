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howSpecialPlsOnTitleSld="0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5"/>
    <p:sldId id="257" r:id="rId26"/>
    <p:sldId id="258" r:id="rId27"/>
    <p:sldId id="259" r:id="rId28"/>
    <p:sldId id="260" r:id="rId29"/>
    <p:sldId id="261" r:id="rId30"/>
    <p:sldId id="262" r:id="rId31"/>
    <p:sldId id="263" r:id="rId32"/>
    <p:sldId id="264" r:id="rId33"/>
    <p:sldId id="265" r:id="rId34"/>
    <p:sldId id="266" r:id="rId35"/>
    <p:sldId id="267" r:id="rId36"/>
    <p:sldId id="268" r:id="rId37"/>
    <p:sldId id="269" r:id="rId38"/>
    <p:sldId id="270" r:id="rId39"/>
    <p:sldId id="271" r:id="rId40"/>
    <p:sldId id="272" r:id="rId41"/>
    <p:sldId id="273" r:id="rId42"/>
    <p:sldId id="274" r:id="rId43"/>
    <p:sldId id="275" r:id="rId44"/>
    <p:sldId id="276" r:id="rId45"/>
    <p:sldId id="277" r:id="rId46"/>
    <p:sldId id="278" r:id="rId47"/>
    <p:sldId id="279" r:id="rId48"/>
    <p:sldId id="280" r:id="rId49"/>
    <p:sldId id="281" r:id="rId50"/>
    <p:sldId id="282" r:id="rId51"/>
    <p:sldId id="283" r:id="rId52"/>
    <p:sldId id="284" r:id="rId53"/>
    <p:sldId id="285" r:id="rId54"/>
    <p:sldId id="286" r:id="rId55"/>
    <p:sldId id="287" r:id="rId56"/>
    <p:sldId id="288" r:id="rId57"/>
    <p:sldId id="289" r:id="rId58"/>
    <p:sldId id="290" r:id="rId59"/>
    <p:sldId id="291" r:id="rId60"/>
    <p:sldId id="292" r:id="rId61"/>
    <p:sldId id="293" r:id="rId62"/>
    <p:sldId id="294" r:id="rId63"/>
    <p:sldId id="295" r:id="rId64"/>
    <p:sldId id="296" r:id="rId65"/>
    <p:sldId id="297" r:id="rId66"/>
    <p:sldId id="298" r:id="rId67"/>
    <p:sldId id="299" r:id="rId68"/>
    <p:sldId id="300" r:id="rId69"/>
    <p:sldId id="301" r:id="rId70"/>
    <p:sldId id="302" r:id="rId71"/>
    <p:sldId id="303" r:id="rId72"/>
    <p:sldId id="304" r:id="rId73"/>
    <p:sldId id="305" r:id="rId74"/>
    <p:sldId id="306" r:id="rId75"/>
    <p:sldId id="307" r:id="rId76"/>
    <p:sldId id="308" r:id="rId77"/>
    <p:sldId id="309" r:id="rId7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  <p:ext uri="{2D200454-40CA-4A62-9FC3-DE9A4176ACB9}">
      <p15:notes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81FF"/>
    <a:srgbClr val="FFE7FF"/>
    <a:srgbClr val="F0EDFF"/>
    <a:srgbClr val="D4FAE6"/>
    <a:srgbClr val="FFF9C1"/>
    <a:srgbClr val="E3F5FF"/>
    <a:srgbClr val="FFEB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82"/>
    <p:restoredTop sz="96148"/>
  </p:normalViewPr>
  <p:slideViewPr>
    <p:cSldViewPr snapToGrid="0" showGuides="1">
      <p:cViewPr>
        <p:scale>
          <a:sx n="66" d="100"/>
          <a:sy n="66" d="100"/>
        </p:scale>
        <p:origin x="1552" y="11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92" y="176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
  <Relationship Id="rId21" Type="http://schemas.openxmlformats.org/officeDocument/2006/relationships/presProps" Target="presProps.xml"/>
  <Relationship Id="rId20" Type="http://schemas.openxmlformats.org/officeDocument/2006/relationships/handoutMaster" Target="handoutMasters/handoutMaster1.xml"/>
  <Relationship Id="rId1" Type="http://schemas.openxmlformats.org/officeDocument/2006/relationships/slideMaster" Target="slideMasters/slideMaster1.xml"/>
  <Relationship Id="rId24" Type="http://schemas.openxmlformats.org/officeDocument/2006/relationships/tableStyles" Target="tableStyles.xml"/>
  <Relationship Id="rId23" Type="http://schemas.openxmlformats.org/officeDocument/2006/relationships/theme" Target="theme/theme1.xml"/>
  <Relationship Id="rId19" Type="http://schemas.openxmlformats.org/officeDocument/2006/relationships/notesMaster" Target="notesMasters/notesMaster1.xml"/>
  <Relationship Id="rId22" Type="http://schemas.openxmlformats.org/officeDocument/2006/relationships/viewProps" Target="viewProps.xml"/>
  <Relationship Id="rId25" Type="http://schemas.openxmlformats.org/officeDocument/2006/relationships/slide" Target="slides/slide1.xml"/>
  <Relationship Id="rId26" Type="http://schemas.openxmlformats.org/officeDocument/2006/relationships/slide" Target="slides/slide2.xml"/>
  <Relationship Id="rId27" Type="http://schemas.openxmlformats.org/officeDocument/2006/relationships/slide" Target="slides/slide3.xml"/>
  <Relationship Id="rId28" Type="http://schemas.openxmlformats.org/officeDocument/2006/relationships/slide" Target="slides/slide4.xml"/>
  <Relationship Id="rId29" Type="http://schemas.openxmlformats.org/officeDocument/2006/relationships/slide" Target="slides/slide5.xml"/>
  <Relationship Id="rId30" Type="http://schemas.openxmlformats.org/officeDocument/2006/relationships/slide" Target="slides/slide6.xml"/>
  <Relationship Id="rId31" Type="http://schemas.openxmlformats.org/officeDocument/2006/relationships/slide" Target="slides/slide7.xml"/>
  <Relationship Id="rId32" Type="http://schemas.openxmlformats.org/officeDocument/2006/relationships/slide" Target="slides/slide8.xml"/>
  <Relationship Id="rId33" Type="http://schemas.openxmlformats.org/officeDocument/2006/relationships/slide" Target="slides/slide9.xml"/>
  <Relationship Id="rId34" Type="http://schemas.openxmlformats.org/officeDocument/2006/relationships/slide" Target="slides/slide10.xml"/>
  <Relationship Id="rId35" Type="http://schemas.openxmlformats.org/officeDocument/2006/relationships/slide" Target="slides/slide11.xml"/>
  <Relationship Id="rId36" Type="http://schemas.openxmlformats.org/officeDocument/2006/relationships/slide" Target="slides/slide12.xml"/>
  <Relationship Id="rId37" Type="http://schemas.openxmlformats.org/officeDocument/2006/relationships/slide" Target="slides/slide13.xml"/>
  <Relationship Id="rId38" Type="http://schemas.openxmlformats.org/officeDocument/2006/relationships/slide" Target="slides/slide14.xml"/>
  <Relationship Id="rId39" Type="http://schemas.openxmlformats.org/officeDocument/2006/relationships/slide" Target="slides/slide15.xml"/>
  <Relationship Id="rId40" Type="http://schemas.openxmlformats.org/officeDocument/2006/relationships/slide" Target="slides/slide16.xml"/>
  <Relationship Id="rId41" Type="http://schemas.openxmlformats.org/officeDocument/2006/relationships/slide" Target="slides/slide17.xml"/>
  <Relationship Id="rId42" Type="http://schemas.openxmlformats.org/officeDocument/2006/relationships/slide" Target="slides/slide18.xml"/>
  <Relationship Id="rId43" Type="http://schemas.openxmlformats.org/officeDocument/2006/relationships/slide" Target="slides/slide19.xml"/>
  <Relationship Id="rId44" Type="http://schemas.openxmlformats.org/officeDocument/2006/relationships/slide" Target="slides/slide20.xml"/>
  <Relationship Id="rId45" Type="http://schemas.openxmlformats.org/officeDocument/2006/relationships/slide" Target="slides/slide21.xml"/>
  <Relationship Id="rId46" Type="http://schemas.openxmlformats.org/officeDocument/2006/relationships/slide" Target="slides/slide22.xml"/>
  <Relationship Id="rId47" Type="http://schemas.openxmlformats.org/officeDocument/2006/relationships/slide" Target="slides/slide23.xml"/>
  <Relationship Id="rId48" Type="http://schemas.openxmlformats.org/officeDocument/2006/relationships/slide" Target="slides/slide24.xml"/>
  <Relationship Id="rId49" Type="http://schemas.openxmlformats.org/officeDocument/2006/relationships/slide" Target="slides/slide25.xml"/>
  <Relationship Id="rId50" Type="http://schemas.openxmlformats.org/officeDocument/2006/relationships/slide" Target="slides/slide26.xml"/>
  <Relationship Id="rId51" Type="http://schemas.openxmlformats.org/officeDocument/2006/relationships/slide" Target="slides/slide27.xml"/>
  <Relationship Id="rId52" Type="http://schemas.openxmlformats.org/officeDocument/2006/relationships/slide" Target="slides/slide28.xml"/>
  <Relationship Id="rId53" Type="http://schemas.openxmlformats.org/officeDocument/2006/relationships/slide" Target="slides/slide29.xml"/>
  <Relationship Id="rId54" Type="http://schemas.openxmlformats.org/officeDocument/2006/relationships/slide" Target="slides/slide30.xml"/>
  <Relationship Id="rId55" Type="http://schemas.openxmlformats.org/officeDocument/2006/relationships/slide" Target="slides/slide31.xml"/>
  <Relationship Id="rId56" Type="http://schemas.openxmlformats.org/officeDocument/2006/relationships/slide" Target="slides/slide32.xml"/>
  <Relationship Id="rId57" Type="http://schemas.openxmlformats.org/officeDocument/2006/relationships/slide" Target="slides/slide33.xml"/>
  <Relationship Id="rId58" Type="http://schemas.openxmlformats.org/officeDocument/2006/relationships/slide" Target="slides/slide34.xml"/>
  <Relationship Id="rId59" Type="http://schemas.openxmlformats.org/officeDocument/2006/relationships/slide" Target="slides/slide35.xml"/>
  <Relationship Id="rId60" Type="http://schemas.openxmlformats.org/officeDocument/2006/relationships/slide" Target="slides/slide36.xml"/>
  <Relationship Id="rId61" Type="http://schemas.openxmlformats.org/officeDocument/2006/relationships/slide" Target="slides/slide37.xml"/>
  <Relationship Id="rId62" Type="http://schemas.openxmlformats.org/officeDocument/2006/relationships/slide" Target="slides/slide38.xml"/>
  <Relationship Id="rId63" Type="http://schemas.openxmlformats.org/officeDocument/2006/relationships/slide" Target="slides/slide39.xml"/>
  <Relationship Id="rId64" Type="http://schemas.openxmlformats.org/officeDocument/2006/relationships/slide" Target="slides/slide40.xml"/>
  <Relationship Id="rId65" Type="http://schemas.openxmlformats.org/officeDocument/2006/relationships/slide" Target="slides/slide41.xml"/>
  <Relationship Id="rId66" Type="http://schemas.openxmlformats.org/officeDocument/2006/relationships/slide" Target="slides/slide42.xml"/>
  <Relationship Id="rId67" Type="http://schemas.openxmlformats.org/officeDocument/2006/relationships/slide" Target="slides/slide43.xml"/>
  <Relationship Id="rId68" Type="http://schemas.openxmlformats.org/officeDocument/2006/relationships/slide" Target="slides/slide44.xml"/>
  <Relationship Id="rId69" Type="http://schemas.openxmlformats.org/officeDocument/2006/relationships/slide" Target="slides/slide45.xml"/>
  <Relationship Id="rId70" Type="http://schemas.openxmlformats.org/officeDocument/2006/relationships/slide" Target="slides/slide46.xml"/>
  <Relationship Id="rId71" Type="http://schemas.openxmlformats.org/officeDocument/2006/relationships/slide" Target="slides/slide47.xml"/>
  <Relationship Id="rId72" Type="http://schemas.openxmlformats.org/officeDocument/2006/relationships/slide" Target="slides/slide48.xml"/>
  <Relationship Id="rId73" Type="http://schemas.openxmlformats.org/officeDocument/2006/relationships/slide" Target="slides/slide49.xml"/>
  <Relationship Id="rId74" Type="http://schemas.openxmlformats.org/officeDocument/2006/relationships/slide" Target="slides/slide50.xml"/>
  <Relationship Id="rId75" Type="http://schemas.openxmlformats.org/officeDocument/2006/relationships/slide" Target="slides/slide51.xml"/>
  <Relationship Id="rId76" Type="http://schemas.openxmlformats.org/officeDocument/2006/relationships/slide" Target="slides/slide52.xml"/>
  <Relationship Id="rId77" Type="http://schemas.openxmlformats.org/officeDocument/2006/relationships/slide" Target="slides/slide53.xml"/>
  <Relationship Id="rId78" Type="http://schemas.openxmlformats.org/officeDocument/2006/relationships/slide" Target="slides/slide54.xml"/>
</Relationships>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CBE39D8-4679-AEDF-EACE-968A0C4907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A162DEF-61D1-95A4-272C-C6C1381800F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8F68EE-A70C-3644-86FC-D1E079D7FEAF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E726DD7-AC0F-37F3-7A54-ACAA1A8AA6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E38A616-67E6-AC85-C5E7-FA5CBB6E9D6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EF70DF-D5AD-784F-89E3-EFD4413549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402010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C28FC6-2564-B845-AC4B-CAA6C28646B6}" type="datetimeFigureOut">
              <a:rPr lang="ru-RU" smtClean="0"/>
              <a:t>02.04.2026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9696AD-702A-8248-BDD5-8320E44BF5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6603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  <Relationship Id="rId2" Type="http://schemas.openxmlformats.org/officeDocument/2006/relationships/notesMaster" Target="../notesMasters/notesMaster1.xml"/>
</Relationships>
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  <Relationship Id="rId2" Type="http://schemas.openxmlformats.org/officeDocument/2006/relationships/notesMaster" Target="../notesMasters/notesMaster1.xml"/>
</Relationships>
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  <Relationship Id="rId2" Type="http://schemas.openxmlformats.org/officeDocument/2006/relationships/notesMaster" Target="../notesMasters/notesMaster1.xml"/>
</Relationships>
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8.xml"/>
  <Relationship Id="rId2" Type="http://schemas.openxmlformats.org/officeDocument/2006/relationships/notesMaster" Target="../notesMasters/notesMaster1.xml"/>
</Relationships>
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0.xml"/>
  <Relationship Id="rId2" Type="http://schemas.openxmlformats.org/officeDocument/2006/relationships/notesMaster" Target="../notesMasters/notesMaster1.xml"/>
</Relationships>
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2.xml"/>
  <Relationship Id="rId2" Type="http://schemas.openxmlformats.org/officeDocument/2006/relationships/notesMaster" Target="../notesMasters/notesMaster1.xml"/>
</Relationships>
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3.xml"/>
  <Relationship Id="rId2" Type="http://schemas.openxmlformats.org/officeDocument/2006/relationships/notesMaster" Target="../notesMasters/notesMaster1.xml"/>
</Relationships>
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6.xml"/>
  <Relationship Id="rId2" Type="http://schemas.openxmlformats.org/officeDocument/2006/relationships/notesMaster" Target="../notesMasters/notesMaster1.xml"/>
</Relationships>
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7.xml"/>
  <Relationship Id="rId2" Type="http://schemas.openxmlformats.org/officeDocument/2006/relationships/notesMaster" Target="../notesMasters/notesMaster1.xml"/>
</Relationships>
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8.xml"/>
  <Relationship Id="rId2" Type="http://schemas.openxmlformats.org/officeDocument/2006/relationships/notesMaster" Target="../notesMasters/notesMaster1.xml"/>
</Relationships>
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0.xml"/>
  <Relationship Id="rId2" Type="http://schemas.openxmlformats.org/officeDocument/2006/relationships/notesMaster" Target="../notesMasters/notesMaster1.xml"/>
</Relationships>
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1.xml"/>
  <Relationship Id="rId2" Type="http://schemas.openxmlformats.org/officeDocument/2006/relationships/notesMaster" Target="../notesMasters/notesMaster1.xml"/>
</Relationships>
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2.xml"/>
  <Relationship Id="rId2" Type="http://schemas.openxmlformats.org/officeDocument/2006/relationships/notesMaster" Target="../notesMasters/notesMaster1.xml"/>
</Relationships>
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4.xml"/>
  <Relationship Id="rId2" Type="http://schemas.openxmlformats.org/officeDocument/2006/relationships/notesMaster" Target="../notesMasters/notesMaster1.xml"/>
</Relationships>
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7.xml"/>
  <Relationship Id="rId2" Type="http://schemas.openxmlformats.org/officeDocument/2006/relationships/notesMaster" Target="../notesMasters/notesMaster1.xml"/>
</Relationships>
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9.xml"/>
  <Relationship Id="rId2" Type="http://schemas.openxmlformats.org/officeDocument/2006/relationships/notesMaster" Target="../notesMasters/notesMaster1.xml"/>
</Relationships>
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0.xml"/>
  <Relationship Id="rId2" Type="http://schemas.openxmlformats.org/officeDocument/2006/relationships/notesMaster" Target="../notesMasters/notesMaster1.xml"/>
</Relationships>

</file>

<file path=ppt/notesSlides/_rels/notesSlide3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1.xml"/>
  <Relationship Id="rId2" Type="http://schemas.openxmlformats.org/officeDocument/2006/relationships/notesMaster" Target="../notesMasters/notesMaster1.xml"/>
</Relationships>

</file>

<file path=ppt/notesSlides/_rels/notesSlide3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3.xml"/>
  <Relationship Id="rId2" Type="http://schemas.openxmlformats.org/officeDocument/2006/relationships/notesMaster" Target="../notesMasters/notesMaster1.xml"/>
</Relationships>

</file>

<file path=ppt/notesSlides/_rels/notesSlide3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4.xml"/>
  <Relationship Id="rId2" Type="http://schemas.openxmlformats.org/officeDocument/2006/relationships/notesMaster" Target="../notesMasters/notesMaster1.xml"/>
</Relationships>

</file>

<file path=ppt/notesSlides/_rels/notesSlide3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5.xml"/>
  <Relationship Id="rId2" Type="http://schemas.openxmlformats.org/officeDocument/2006/relationships/notesMaster" Target="../notesMasters/notesMaster1.xml"/>
</Relationships>

</file>

<file path=ppt/notesSlides/_rels/notesSlide3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7.xml"/>
  <Relationship Id="rId2" Type="http://schemas.openxmlformats.org/officeDocument/2006/relationships/notesMaster" Target="../notesMasters/notesMaster1.xml"/>
</Relationships>

</file>

<file path=ppt/notesSlides/_rels/notesSlide3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8.xml"/>
  <Relationship Id="rId2" Type="http://schemas.openxmlformats.org/officeDocument/2006/relationships/notesMaster" Target="../notesMasters/notesMaster1.xml"/>
</Relationships>

</file>

<file path=ppt/notesSlides/_rels/notesSlide3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9.xml"/>
  <Relationship Id="rId2" Type="http://schemas.openxmlformats.org/officeDocument/2006/relationships/notesMaster" Target="../notesMasters/notesMaster1.xml"/>
</Relationships>

</file>

<file path=ppt/notesSlides/_rels/notesSlide40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0.xml"/>
  <Relationship Id="rId2" Type="http://schemas.openxmlformats.org/officeDocument/2006/relationships/notesMaster" Target="../notesMasters/notesMaster1.xml"/>
</Relationships>

</file>

<file path=ppt/notesSlides/_rels/notesSlide4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1.xml"/>
  <Relationship Id="rId2" Type="http://schemas.openxmlformats.org/officeDocument/2006/relationships/notesMaster" Target="../notesMasters/notesMaster1.xml"/>
</Relationships>

</file>

<file path=ppt/notesSlides/_rels/notesSlide4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3.xml"/>
  <Relationship Id="rId2" Type="http://schemas.openxmlformats.org/officeDocument/2006/relationships/notesMaster" Target="../notesMasters/notesMaster1.xml"/>
</Relationships>

</file>

<file path=ppt/notesSlides/_rels/notesSlide4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4.xml"/>
  <Relationship Id="rId2" Type="http://schemas.openxmlformats.org/officeDocument/2006/relationships/notesMaster" Target="../notesMasters/notesMaster1.xml"/>
</Relationships>

</file>

<file path=ppt/notesSlides/_rels/notesSlide4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5.xml"/>
  <Relationship Id="rId2" Type="http://schemas.openxmlformats.org/officeDocument/2006/relationships/notesMaster" Target="../notesMasters/notesMaster1.xml"/>
</Relationships>

</file>

<file path=ppt/notesSlides/_rels/notesSlide4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6.xml"/>
  <Relationship Id="rId2" Type="http://schemas.openxmlformats.org/officeDocument/2006/relationships/notesMaster" Target="../notesMasters/notesMaster1.xml"/>
</Relationships>

</file>

<file path=ppt/notesSlides/_rels/notesSlide48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8.xml"/>
  <Relationship Id="rId2" Type="http://schemas.openxmlformats.org/officeDocument/2006/relationships/notesMaster" Target="../notesMasters/notesMaster1.xml"/>
</Relationships>

</file>

<file path=ppt/notesSlides/_rels/notesSlide49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9.xml"/>
  <Relationship Id="rId2" Type="http://schemas.openxmlformats.org/officeDocument/2006/relationships/notesMaster" Target="../notesMasters/notesMaster1.xml"/>
</Relationships>

</file>

<file path=ppt/notesSlides/_rels/notesSlide5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1.xml"/>
  <Relationship Id="rId2" Type="http://schemas.openxmlformats.org/officeDocument/2006/relationships/notesMaster" Target="../notesMasters/notesMaster1.xml"/>
</Relationships>

</file>

<file path=ppt/notesSlides/_rels/notesSlide5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2.xml"/>
  <Relationship Id="rId2" Type="http://schemas.openxmlformats.org/officeDocument/2006/relationships/notesMaster" Target="../notesMasters/notesMaster1.xml"/>
</Relationships>
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Демонстрирую функционал: лента, билет с QR, баланс. Затем выключаем сеть и видим один из трёх вариантов: белый экран, бесконечный спиннер или «Нет соединения, попробуйте позже» — хотя данные уже могли лежать на телефоне.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Настоящего «кошелькового» бэкенда нет: два публичных mock-сервиса + клиентская сборка билета/баланса/QR.</a:t>
            </a:r>
          </a:p>
          <a:p>
            <a:r>
              <a:rPr lang="ru-RU"/>
              <a:t>JSONPlaceholder — GET-ответы с Cache-Control и ETag (пригодится в блоке URLCache).</a:t>
            </a:r>
          </a:p>
          <a:p>
            <a:r>
              <a:rPr lang="ru-RU"/>
              <a:t>Lorem Picsum — 302 на CDN (вернёмся при кэше картинок).</a:t>
            </a:r>
          </a:p>
          <a:p>
            <a:r>
              <a:rPr lang="ru-RU"/>
              <a:t>Баланс — сумма по формуле от user.id; билет — рейс/место/гейт от id; QR собирается локально.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Главный тезис всей лекции: сеть — ненадёжный внешний ресурс.</a:t>
            </a:r>
          </a:p>
          <a:p>
            <a:r>
              <a:rPr lang="ru-RU"/>
              <a:t>«Попробуйте позже» — не offline-режим, а признание зависимости от внешнего ресурса.</a:t>
            </a:r>
          </a:p>
          <a:p>
            <a:r>
              <a:rPr lang="ru-RU"/>
              <a:t>Если проектируем от «сеть обычно есть», получаем приложение, которое «обычно работает».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Online-Only — без интернета белый экран или ошибка.</a:t>
            </a:r>
          </a:p>
          <a:p>
            <a:r>
              <a:rPr lang="ru-RU"/>
              <a:t>Кэш для чтения — показываем уже загруженное, но не полагаемся как на данные пользователя.</a:t>
            </a:r>
          </a:p>
          <a:p>
            <a:r>
              <a:rPr lang="ru-RU"/>
              <a:t>Offline-First — локальные данные = источник правды, сеть только синхронизирует.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URLCache — прослойка между кодом и сетью, прозрачно для session.data(for:).</a:t>
            </a:r>
          </a:p>
          <a:p>
            <a:r>
              <a:rPr lang="ru-RU"/>
              <a:t>Memory живёт пока запущено приложение; Disk лежит в Library/Caches — запомните папку.</a:t>
            </a:r>
          </a:p>
          <a:p>
            <a:r>
              <a:rPr lang="ru-RU"/>
              <a:t>Главное: кэшем управляет сервер через HTTP-заголовки.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1. «Ответ ещё свежий?» — да → из кэша мгновенно: ноль трафика, минимум задержки</a:t>
            </a:r>
          </a:p>
          <a:p>
            <a:r>
              <a:rPr lang="ru-RU"/>
              <a:t>2. «Несвежий (stale) — можно дёшево перепроверить?» — да → условный запрос: «не менялось» или новая версия</a:t>
            </a:r>
          </a:p>
          <a:p>
            <a:r>
              <a:rPr lang="ru-RU"/>
              <a:t>Условные заголовки (If-None-Match и др.) URLSession подставляет сам — вручную писать не нужно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Пример: GET /posts → max-age=43200 + ETag. Через 5 минут — из кэша; через 13 часов — If-None-Match → 304 → тело из кэша.</a:t>
            </a:r>
          </a:p>
          <a:p>
            <a:r>
              <a:rPr lang="ru-RU"/>
              <a:t>Нет сети + stale = ошибка URLSession (перепроверить не у кого) — нужен ручной offline fallback.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Картинок много и они тяжёлые; аватары, обложки, QR/штрихкоды должны показываться мгновенно и офлайн.</a:t>
            </a:r>
          </a:p>
          <a:p>
            <a:r>
              <a:rPr lang="ru-RU"/>
              <a:t>Базовый инструмент для памяти — NSCache, чистится под давлением памяти.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Многие CDN (и picsum.photos) отдают картинку через 302 на финальный URL.</a:t>
            </a:r>
          </a:p>
          <a:p>
            <a:r>
              <a:rPr lang="ru-RU"/>
              <a:t>URLCache сохраняет под финальным URL, а ищем по исходному → cache miss.</a:t>
            </a:r>
          </a:p>
          <a:p>
            <a:r>
              <a:rPr lang="ru-RU"/>
              <a:t>Аналогия: заказали на «склад A», курьер перенёс на «склад B» — приходите на A: «у нас нет».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Для картинок отключаем URLCache и делаем свой файловый кэш: ключ = SHA256(исходный URL).</a:t>
            </a:r>
          </a:p>
          <a:p>
            <a:r>
              <a:rPr lang="ru-RU"/>
              <a:t>Индексируем по адресу, который видит приложение, а не по тому, куда увёл редирект.</a:t>
            </a:r>
          </a:p>
          <a:p>
            <a:r>
              <a:rPr lang="ru-RU"/>
              <a:t>Три уровня: NSCache (RAM) → диск → сеть.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CacheManager — единая точка управления жизненным циклом кэша.</a:t>
            </a:r>
          </a:p>
          <a:p>
            <a:r>
              <a:rPr lang="ru-RU"/>
              <a:t>TTL — второй, наш уровень контроля актуальности поверх HTTP.</a:t>
            </a:r>
          </a:p>
          <a:p>
            <a:r>
              <a:rPr lang="ru-RU"/>
              <a:t>Версия схемы — одна строчка против класса багов после обновления из App Store.</a:t>
            </a:r>
          </a:p>
          <a:p>
            <a:r>
              <a:rPr lang="ru-RU"/>
              <a:t>cache-then-network по духу — stale-while-revalidate.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clearAll(): urlCache.removeAllCachedResponses(); UserDefaults (TTL); ImageLoader.shared.clearCache().</a:t>
            </a:r>
          </a:p>
          <a:p>
            <a:r>
              <a:rPr lang="ru-RU"/>
              <a:t>SessionStore.logout() дёргает единую точку — чужие данные не утекут.</a:t>
            </a:r>
          </a:p>
          <a:p>
            <a:r>
              <a:rPr lang="ru-RU"/>
              <a:t>Корнер-кейс: A залогинился, лента закэшировалась, A вышел, зашёл B — видит данные A. Семейный телефон, рабочий планшет, демо-устройство находят в проде постоянно.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Убираем любой механизм из трёх — получим баги</a:t>
            </a:r>
          </a:p>
          <a:p>
            <a:r>
              <a:rPr lang="ru-RU"/>
              <a:t>У некоторых данных свой срок годности, не совпадающий со сроком жизни кэша — платёжный токен, билет, баланс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Переворачиваем парадигму: локальное хранилище — источник правды, сеть лишь синхронизирует его</a:t>
            </a:r>
          </a:p>
          <a:p>
            <a:r>
              <a:rPr lang="ru-RU"/>
              <a:t>Для билета фолбэк-кэш недопустим: ОС вычистит Caches под нехватку места — пассажир останется без QR на стойке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loadLocal — билет с диска практически мгновенно, работает в авиарежиме.</a:t>
            </a:r>
          </a:p>
          <a:p>
            <a:r>
              <a:rPr lang="ru-RU"/>
              <a:t>Обновление из сети — метод refreshFromNetwork: фоном тихо обновляем источник правды, экран не блокируем.</a:t>
            </a:r>
          </a:p>
          <a:p>
            <a:r>
              <a:rPr lang="ru-RU"/>
              <a:t>Честный статус синхронизации (актуально / обновляем / офлайн) соблюдает честность из блока 1.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QR-код строится из локально сохранённого payload, а не из живого ответа сервера.</a:t>
            </a:r>
          </a:p>
          <a:p>
            <a:r>
              <a:rPr lang="ru-RU"/>
              <a:t>Посадку можно пройти полностью офлайн; сеть нужна лишь чтобы держать копию свежей.</a:t>
            </a:r>
          </a:p>
          <a:p>
            <a:r>
              <a:rPr lang="ru-RU"/>
              <a:t>На кэш полагаться нельзя — это кэш, его вычистят.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Кэш отвечает на вопрос «что показать, если сеть упала».</a:t>
            </a:r>
          </a:p>
          <a:p>
            <a:r>
              <a:rPr lang="ru-RU"/>
              <a:t>Источник правды: данные всегда локально, сеть лишь обновляет.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Пользователь не только читает — он действует. Outbox: действие сначала в локальную очередь, UI оптимистичен, доставкой занимается фоновый воркер.</a:t>
            </a:r>
          </a:p>
          <a:p>
            <a:r>
              <a:rPr lang="ru-RU"/>
              <a:t>Компоненты — на следующем слайде.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Сценарий: лайк отправлен, сервер применил, ответ потерялся по дороге — клиент думает «не дошло» и повторяет.</a:t>
            </a:r>
          </a:p>
          <a:p>
            <a:r>
              <a:rPr lang="ru-RU"/>
              <a:t>В демо JSONPlaceholder ключ не дедуплицирует — реализована клиентская половина контракта; серверную обеспечивает бэкенд.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1. Airplane Mode → тап «лайк» → «в очереди: 1».</a:t>
            </a:r>
          </a:p>
          <a:p>
            <a:r>
              <a:rPr lang="ru-RU"/>
              <a:t>2. Убить и перезапустить (офлайн) → очередь прочитана с диска.</a:t>
            </a:r>
          </a:p>
          <a:p>
            <a:r>
              <a:rPr lang="ru-RU"/>
              <a:t>3. Выключить Airplane Mode → воркер сам отправляет → очередь пустеет.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Куда ещё прикладывается offline: карты, loyalty barcode, offline content, черновики.</a:t>
            </a:r>
          </a:p>
          <a:p>
            <a:r>
              <a:rPr lang="ru-RU"/>
              <a:t>Везде одни и те же три идеи.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«Шифруйте всё» звучит солидно, но не отвечает на вопрос «от кого».</a:t>
            </a:r>
          </a:p>
          <a:p>
            <a:r>
              <a:rPr lang="ru-RU"/>
              <a:t>Нельзя «защититься вообще» — можно защититься от конкретного противника.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Модель угроз мобильного приложения: вор телефона (физический доступ), бэкап iCloud/iTunes (секреты уезжают на другое устройство), jailbreak (ослабленная песочница), чужие глаза (коллега, ребёнок, камера над плечом), логаут, компрометация сетевого канала.</a:t>
            </a:r>
          </a:p>
          <a:p>
            <a:r>
              <a:rPr lang="ru-RU"/>
              <a:t>Про логаут: песочница защищает периметр (снаружи внутрь), но всё, что происходит внутри контейнера — выбор директории, класс доступности, полнота и надёжность очистки — целиком наша зона ответственности; любая ошибка здесь бьёт напрямую по нам, подстраховки со стороны ОС уже нет.</a:t>
            </a:r>
          </a:p>
          <a:p>
            <a:r>
              <a:rPr lang="ru-RU"/>
              <a:t>Под каждый сценарий — свой инструмент защиты.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UserDefaults — открытый текст: физически это .plist в Library/Preferences</a:t>
            </a:r>
          </a:p>
          <a:p>
            <a:r>
              <a:rPr lang="ru-RU"/>
              <a:t>UserDefaults видно в бэкапе, его открывает текстовый редактор. Любой токен там — секрет, отданный наружу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isExcludedFromBackup — исключить конкретный файл из бэкапа (например, большой скачанный датасет)</a:t>
            </a:r>
          </a:p>
          <a:p>
            <a:r>
              <a:rPr lang="ru-RU"/>
              <a:t>Выбор папки — это и надёжность, и безопасность: билеты и черновики ≠ кэш, они должны лежать в правильном месте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Первый настоящий секрет — access token после логина. По карте хранилищ место одно — Keychain: AES-256, ключи в Secure Enclave.</a:t>
            </a:r>
          </a:p>
          <a:p>
            <a:r>
              <a:rPr lang="ru-RU"/>
              <a:t>API старый и сишный (SecItemAdd, SecItemCopyMatching) — обёрнут в KeychainStore: save/read/delete.</a:t>
            </a:r>
          </a:p>
          <a:p>
            <a:r>
              <a:rPr lang="ru-RU"/>
              <a:t>Только для маленьких секретов — токенов и ключей, не больших объёмов данных.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AfterFirstUnlock — outbox-воркеру из блока 2 нужно слать запросы с токеном в фоне, без участия пользователя</a:t>
            </a:r>
          </a:p>
          <a:p>
            <a:r>
              <a:rPr lang="ru-RU"/>
              <a:t>ThisDeviceOnly — в модели угроз есть «бэкап в iCloud»: компрометация бэкапа не должна означать компрометацию токена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Кнопка пишет токен в UserDefaults → открываем Library/Preferences/&lt;bundle&gt;.plist — токен виден глазами. Рядом токен в Keychain — так просто не достать</a:t>
            </a:r>
          </a:p>
          <a:p>
            <a:r>
              <a:rPr lang="ru-RU"/>
              <a:t>Имя пользователя намеренно в UserDefaults — это не секрет. Токен — только в Keychain</a:t>
            </a:r>
          </a:p>
          <a:p>
            <a:r>
              <a:rPr lang="ru-RU"/>
              <a:t>Безопасность — не «всё шифровать», а «класть каждый тип данных в правильное место»</a:t>
            </a:r>
          </a:p>
          <a:p>
            <a:r>
              <a:rPr lang="ru-RU"/>
              <a:t>Файлы шифрует Data Protection при блокировке, ключи — в Secure Enclave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Данные билета уже на диске и зашифрованы Data Protection — FaceID их не расшифровывает</a:t>
            </a:r>
          </a:p>
          <a:p>
            <a:r>
              <a:rPr lang="ru-RU"/>
              <a:t>Он решает один вопрос: показать данные пользователю или нет</a:t>
            </a:r>
          </a:p>
          <a:p>
            <a:r>
              <a:rPr lang="ru-RU"/>
              <a:t>Замок на двери, не сейф. Сейф — Secure Enclave и Keychain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Ключевой контраст слайда: билет и платёжный токен защищены на разных уровнях.</a:t>
            </a:r>
          </a:p>
          <a:p>
            <a:r>
              <a:rPr lang="ru-RU"/>
              <a:t>Билет: UI-гейт, приложение само вызывает FaceID и решает, показывать ли экран; реблокировка при уходе в фон — гейт, а не «разблокировал один раз навсегда».</a:t>
            </a:r>
          </a:p>
          <a:p>
            <a:r>
              <a:rPr lang="ru-RU"/>
              <a:t>Платёжный токен: гейт на уровне ОС — приложение не вызывает проверку само, её запрашивает Keychain через Secure Enclave; секрет физически не отдаётся без живого FaceID. Сильнее, чем «нарисовали замок поверх экрана».</a:t>
            </a:r>
          </a:p>
          <a:p>
            <a:r>
              <a:rPr lang="ru-RU"/>
              <a:t>.biometryAny: добавили новое лицо — секрет читается. .biometryCurrentSet: становится недоступен. Для платёжных данных — только CurrentSet.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Два секрета — две политики, потому что требования разные: фоновые запросы vs платёж</a:t>
            </a:r>
          </a:p>
          <a:p>
            <a:r>
              <a:rPr lang="ru-RU"/>
              <a:t>logout удаляет оба — в той же единой точке очистки, что мы завели в блоке 1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Без ключа обращение к FaceID не «вернёт ошибку», а крашит приложение.</a:t>
            </a:r>
          </a:p>
          <a:p>
            <a:r>
              <a:rPr lang="ru-RU"/>
              <a:t>Проверяйте не только наличие ключа, но и текст: пользователь должен понимать, зачем приложение просит FaceID — билет, оплата или чувствительные данные.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Грабли: протухший кэш без индикации; токены в UserDefaults; билеты в Caches; FaceID только в UI; забывают чистить при логауте; «попробуйте позже» как офлайн.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Финальный чек-лист — можно сфотографировать. Все восемь пунктов сохранены.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8222C7F-ECF5-0423-8B61-1AE23AEAD8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3297544"/>
            <a:ext cx="5580062" cy="139066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8AF3009E-176A-69BE-9C20-4F55839219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21543" y="5588000"/>
            <a:ext cx="3609022" cy="822325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ts val="3000"/>
              </a:lnSpc>
              <a:buNone/>
              <a:defRPr sz="28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Имя Фамилия</a:t>
            </a:r>
            <a:br>
              <a:rPr lang="ru-RU" dirty="0"/>
            </a:br>
            <a:r>
              <a:rPr lang="ru-RU" dirty="0"/>
              <a:t>Должность</a:t>
            </a:r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E0A8D119-F392-89F3-CF20-DEE064C9D70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15938" y="5019664"/>
            <a:ext cx="1390661" cy="1390661"/>
          </a:xfrm>
          <a:prstGeom prst="roundRect">
            <a:avLst>
              <a:gd name="adj" fmla="val 4158"/>
            </a:avLst>
          </a:prstGeom>
          <a:solidFill>
            <a:schemeClr val="bg1">
              <a:lumMod val="95000"/>
            </a:schemeClr>
          </a:solidFill>
        </p:spPr>
        <p:txBody>
          <a:bodyPr anchor="b">
            <a:normAutofit/>
          </a:bodyPr>
          <a:lstStyle>
            <a:lvl1pPr marL="0" indent="0">
              <a:buNone/>
              <a:defRPr sz="16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фотографии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115483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7378" userDrawn="1">
          <p15:clr>
            <a:srgbClr val="FBAE40"/>
          </p15:clr>
        </p15:guide>
        <p15:guide id="4" orient="horz" pos="3974" userDrawn="1">
          <p15:clr>
            <a:srgbClr val="FBAE40"/>
          </p15:clr>
        </p15:guide>
        <p15:guide id="5" orient="horz" pos="2160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1706" userDrawn="1">
          <p15:clr>
            <a:srgbClr val="FBAE40"/>
          </p15:clr>
        </p15:guide>
        <p15:guide id="8" orient="horz" pos="1253" userDrawn="1">
          <p15:clr>
            <a:srgbClr val="FBAE40"/>
          </p15:clr>
        </p15:guide>
        <p15:guide id="9" orient="horz" pos="799" userDrawn="1">
          <p15:clr>
            <a:srgbClr val="FBAE40"/>
          </p15:clr>
        </p15:guide>
        <p15:guide id="10" orient="horz" pos="2614" userDrawn="1">
          <p15:clr>
            <a:srgbClr val="FBAE40"/>
          </p15:clr>
        </p15:guide>
        <p15:guide id="11" orient="horz" pos="3067" userDrawn="1">
          <p15:clr>
            <a:srgbClr val="FBAE40"/>
          </p15:clr>
        </p15:guide>
        <p15:guide id="12" orient="horz" pos="352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8222C7F-ECF5-0423-8B61-1AE23AEAD8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512763"/>
            <a:ext cx="5580062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Содержание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2675ACA6-DA85-486A-D6FA-96A429D6F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A912C83F-26E6-6FF7-33DD-D5C5F8512E9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60284" y="1829055"/>
            <a:ext cx="2935716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A1313ED1-800E-C426-2DE6-89C9AFDCAF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20136" y="1829055"/>
            <a:ext cx="2935716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0D7B59C4-B952-720E-CC18-8C08EFA6BF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60284" y="2819984"/>
            <a:ext cx="2935716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56634C17-63DF-1A6C-1473-81C6BF0BC2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20136" y="2819984"/>
            <a:ext cx="2935716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A0EAD660-8B85-07CA-BCC8-9E0285125C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160284" y="3836334"/>
            <a:ext cx="2935716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EEE0B61F-3198-705E-961A-FE153259BF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20136" y="3836334"/>
            <a:ext cx="2935716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C99C6ACA-6BA1-3ADA-6179-019633869F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60284" y="4899978"/>
            <a:ext cx="2935716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68079ED9-2880-A430-8AEF-A34E737379D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20136" y="4899978"/>
            <a:ext cx="2935716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2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21" name="Текст 4">
            <a:extLst>
              <a:ext uri="{FF2B5EF4-FFF2-40B4-BE49-F238E27FC236}">
                <a16:creationId xmlns:a16="http://schemas.microsoft.com/office/drawing/2014/main" id="{B8D01588-0B95-50AE-5607-5BD9F0979F2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899590" y="1775700"/>
            <a:ext cx="1055644" cy="719137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  <a:endParaRPr lang="ru-RU" dirty="0"/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C9834320-5466-708F-11EB-E602BF6B7C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899590" y="2779526"/>
            <a:ext cx="1055644" cy="719137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02</a:t>
            </a:r>
            <a:endParaRPr lang="ru-RU" dirty="0"/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094DDA27-999D-3EF6-62E9-5C54DC8E498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899590" y="3797329"/>
            <a:ext cx="1055644" cy="719137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03</a:t>
            </a:r>
            <a:endParaRPr lang="ru-RU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FE5EB98F-89D5-8436-76BF-66C1CD49E0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99590" y="4864132"/>
            <a:ext cx="1055644" cy="719137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04</a:t>
            </a:r>
            <a:endParaRPr lang="ru-RU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79CAD86D-A48C-293D-F71E-4839BA95B8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1775700"/>
            <a:ext cx="1055644" cy="719137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05</a:t>
            </a:r>
            <a:endParaRPr lang="ru-RU" dirty="0"/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2D2A3E89-38A6-97FD-9B50-456DFF78EE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96000" y="2779526"/>
            <a:ext cx="1055644" cy="719137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06</a:t>
            </a:r>
            <a:endParaRPr lang="ru-RU" dirty="0"/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5A369DFA-27A5-CBA8-8B00-9AC15DA6FA0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97329"/>
            <a:ext cx="1055644" cy="719137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07</a:t>
            </a:r>
            <a:endParaRPr lang="ru-RU" dirty="0"/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88400063-F671-9304-D870-5B31BBC6AA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4864132"/>
            <a:ext cx="1055644" cy="719137"/>
          </a:xfrm>
        </p:spPr>
        <p:txBody>
          <a:bodyPr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60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08</a:t>
            </a:r>
            <a:endParaRPr lang="ru-RU"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A5BA821-C6DE-9040-9006-6E4184139A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08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муцтитул 1">
    <p:bg>
      <p:bgPr>
        <a:solidFill>
          <a:srgbClr val="F0E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Текст 4">
            <a:extLst>
              <a:ext uri="{FF2B5EF4-FFF2-40B4-BE49-F238E27FC236}">
                <a16:creationId xmlns:a16="http://schemas.microsoft.com/office/drawing/2014/main" id="{BA62FD8F-7396-799F-3090-80F649E7C0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512763"/>
            <a:ext cx="5580062" cy="219551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F62981A3-C232-97B1-340B-C3B514EC12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000074"/>
            <a:ext cx="5580062" cy="1308651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3800" b="1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  <a:endParaRPr lang="ru-RU" dirty="0"/>
          </a:p>
        </p:txBody>
      </p:sp>
      <p:sp>
        <p:nvSpPr>
          <p:cNvPr id="27" name="Рисунок 10">
            <a:extLst>
              <a:ext uri="{FF2B5EF4-FFF2-40B4-BE49-F238E27FC236}">
                <a16:creationId xmlns:a16="http://schemas.microsoft.com/office/drawing/2014/main" id="{538D3D64-013C-543A-9C1B-275D08D16D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2708276"/>
            <a:ext cx="5616575" cy="3600450"/>
          </a:xfrm>
          <a:prstGeom prst="roundRect">
            <a:avLst>
              <a:gd name="adj" fmla="val 4158"/>
            </a:avLst>
          </a:prstGeom>
          <a:noFill/>
        </p:spPr>
        <p:txBody>
          <a:bodyPr anchor="t">
            <a:normAutofit/>
          </a:bodyPr>
          <a:lstStyle>
            <a:lvl1pPr marL="0" indent="0">
              <a:buNone/>
              <a:defRPr sz="16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иллюстрации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0EDD1BC-B8D8-8048-A89D-A6115FE5B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072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муцтитул 2">
    <p:bg>
      <p:bgPr>
        <a:solidFill>
          <a:srgbClr val="D4F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Текст 4">
            <a:extLst>
              <a:ext uri="{FF2B5EF4-FFF2-40B4-BE49-F238E27FC236}">
                <a16:creationId xmlns:a16="http://schemas.microsoft.com/office/drawing/2014/main" id="{BA62FD8F-7396-799F-3090-80F649E7C0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512763"/>
            <a:ext cx="5580062" cy="219551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F62981A3-C232-97B1-340B-C3B514EC12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000074"/>
            <a:ext cx="5580062" cy="1308651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3800" b="1" i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  <a:endParaRPr lang="ru-RU" dirty="0"/>
          </a:p>
        </p:txBody>
      </p:sp>
      <p:sp>
        <p:nvSpPr>
          <p:cNvPr id="27" name="Рисунок 10">
            <a:extLst>
              <a:ext uri="{FF2B5EF4-FFF2-40B4-BE49-F238E27FC236}">
                <a16:creationId xmlns:a16="http://schemas.microsoft.com/office/drawing/2014/main" id="{538D3D64-013C-543A-9C1B-275D08D16D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2708276"/>
            <a:ext cx="5616575" cy="3600450"/>
          </a:xfrm>
          <a:prstGeom prst="roundRect">
            <a:avLst>
              <a:gd name="adj" fmla="val 4158"/>
            </a:avLst>
          </a:prstGeom>
          <a:noFill/>
        </p:spPr>
        <p:txBody>
          <a:bodyPr anchor="t">
            <a:normAutofit/>
          </a:bodyPr>
          <a:lstStyle>
            <a:lvl1pPr marL="0" indent="0">
              <a:buNone/>
              <a:defRPr sz="16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иллюстрации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64B4E99-3D1C-2F45-BE2A-0CAD19ADB4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0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муцтитул 3">
    <p:bg>
      <p:bgPr>
        <a:solidFill>
          <a:srgbClr val="E3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Текст 4">
            <a:extLst>
              <a:ext uri="{FF2B5EF4-FFF2-40B4-BE49-F238E27FC236}">
                <a16:creationId xmlns:a16="http://schemas.microsoft.com/office/drawing/2014/main" id="{BA62FD8F-7396-799F-3090-80F649E7C0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512763"/>
            <a:ext cx="5580062" cy="219551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F62981A3-C232-97B1-340B-C3B514EC12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000074"/>
            <a:ext cx="5580062" cy="1308651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3800" b="1" i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01</a:t>
            </a:r>
            <a:endParaRPr lang="ru-RU" dirty="0"/>
          </a:p>
        </p:txBody>
      </p:sp>
      <p:sp>
        <p:nvSpPr>
          <p:cNvPr id="27" name="Рисунок 10">
            <a:extLst>
              <a:ext uri="{FF2B5EF4-FFF2-40B4-BE49-F238E27FC236}">
                <a16:creationId xmlns:a16="http://schemas.microsoft.com/office/drawing/2014/main" id="{538D3D64-013C-543A-9C1B-275D08D16D5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2708276"/>
            <a:ext cx="5616575" cy="3600450"/>
          </a:xfrm>
          <a:prstGeom prst="roundRect">
            <a:avLst>
              <a:gd name="adj" fmla="val 4158"/>
            </a:avLst>
          </a:prstGeom>
          <a:noFill/>
        </p:spPr>
        <p:txBody>
          <a:bodyPr anchor="t">
            <a:normAutofit/>
          </a:bodyPr>
          <a:lstStyle>
            <a:lvl1pPr marL="0" indent="0">
              <a:buNone/>
              <a:defRPr sz="16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иллюстрации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650734-CCE5-E146-8C98-C863D4DEA5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031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Рисунок 10">
            <a:extLst>
              <a:ext uri="{FF2B5EF4-FFF2-40B4-BE49-F238E27FC236}">
                <a16:creationId xmlns:a16="http://schemas.microsoft.com/office/drawing/2014/main" id="{22B1E896-11BB-33B6-2FFD-E9402D9E78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5937" y="1645921"/>
            <a:ext cx="11196637" cy="4662804"/>
          </a:xfrm>
          <a:prstGeom prst="roundRect">
            <a:avLst>
              <a:gd name="adj" fmla="val 4635"/>
            </a:avLst>
          </a:prstGeom>
          <a:solidFill>
            <a:schemeClr val="bg2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6" name="Рисунок 10">
            <a:extLst>
              <a:ext uri="{FF2B5EF4-FFF2-40B4-BE49-F238E27FC236}">
                <a16:creationId xmlns:a16="http://schemas.microsoft.com/office/drawing/2014/main" id="{DE55BBB6-8ECF-C60C-AB39-A9ACE91F05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8" y="1645921"/>
            <a:ext cx="11196637" cy="4662804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7EFA7BF2-C453-4E4A-EE81-1ED58F6C23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031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1.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Рисунок 10">
            <a:extLst>
              <a:ext uri="{FF2B5EF4-FFF2-40B4-BE49-F238E27FC236}">
                <a16:creationId xmlns:a16="http://schemas.microsoft.com/office/drawing/2014/main" id="{22B1E896-11BB-33B6-2FFD-E9402D9E78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5938" y="1645919"/>
            <a:ext cx="5503024" cy="4662805"/>
          </a:xfrm>
          <a:prstGeom prst="roundRect">
            <a:avLst>
              <a:gd name="adj" fmla="val 4635"/>
            </a:avLst>
          </a:prstGeom>
          <a:solidFill>
            <a:schemeClr val="bg2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6" name="Рисунок 10">
            <a:extLst>
              <a:ext uri="{FF2B5EF4-FFF2-40B4-BE49-F238E27FC236}">
                <a16:creationId xmlns:a16="http://schemas.microsoft.com/office/drawing/2014/main" id="{DE55BBB6-8ECF-C60C-AB39-A9ACE91F05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9" y="1645919"/>
            <a:ext cx="5503024" cy="4662805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7" name="Рисунок 10">
            <a:extLst>
              <a:ext uri="{FF2B5EF4-FFF2-40B4-BE49-F238E27FC236}">
                <a16:creationId xmlns:a16="http://schemas.microsoft.com/office/drawing/2014/main" id="{855D40E2-C5F7-1EC5-2DA9-BFA9B0CC6DC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6107" y="1645919"/>
            <a:ext cx="5503024" cy="4662805"/>
          </a:xfrm>
          <a:prstGeom prst="roundRect">
            <a:avLst>
              <a:gd name="adj" fmla="val 4635"/>
            </a:avLst>
          </a:prstGeom>
          <a:solidFill>
            <a:schemeClr val="bg2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8" name="Рисунок 10">
            <a:extLst>
              <a:ext uri="{FF2B5EF4-FFF2-40B4-BE49-F238E27FC236}">
                <a16:creationId xmlns:a16="http://schemas.microsoft.com/office/drawing/2014/main" id="{2CAAEB25-A018-DCC8-B6FE-68F8FF9C687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06108" y="1645919"/>
            <a:ext cx="5503024" cy="4662805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92FBCB86-61F4-5227-2D45-EA164E7A25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25C2995-6D76-6C4B-8188-238F025ABC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0E7F86-E525-1BEE-FFD2-2853EEF039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392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1.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Рисунок 10">
            <a:extLst>
              <a:ext uri="{FF2B5EF4-FFF2-40B4-BE49-F238E27FC236}">
                <a16:creationId xmlns:a16="http://schemas.microsoft.com/office/drawing/2014/main" id="{22B1E896-11BB-33B6-2FFD-E9402D9E782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5938" y="1662912"/>
            <a:ext cx="3598292" cy="4645811"/>
          </a:xfrm>
          <a:prstGeom prst="roundRect">
            <a:avLst>
              <a:gd name="adj" fmla="val 4635"/>
            </a:avLst>
          </a:prstGeom>
          <a:solidFill>
            <a:schemeClr val="bg2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6" name="Рисунок 10">
            <a:extLst>
              <a:ext uri="{FF2B5EF4-FFF2-40B4-BE49-F238E27FC236}">
                <a16:creationId xmlns:a16="http://schemas.microsoft.com/office/drawing/2014/main" id="{DE55BBB6-8ECF-C60C-AB39-A9ACE91F05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9" y="1662912"/>
            <a:ext cx="3598292" cy="4645811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7" name="Рисунок 10">
            <a:extLst>
              <a:ext uri="{FF2B5EF4-FFF2-40B4-BE49-F238E27FC236}">
                <a16:creationId xmlns:a16="http://schemas.microsoft.com/office/drawing/2014/main" id="{855D40E2-C5F7-1EC5-2DA9-BFA9B0CC6DC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07739" y="1662912"/>
            <a:ext cx="3598292" cy="4645811"/>
          </a:xfrm>
          <a:prstGeom prst="roundRect">
            <a:avLst>
              <a:gd name="adj" fmla="val 4635"/>
            </a:avLst>
          </a:prstGeom>
          <a:solidFill>
            <a:schemeClr val="bg2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8" name="Рисунок 10">
            <a:extLst>
              <a:ext uri="{FF2B5EF4-FFF2-40B4-BE49-F238E27FC236}">
                <a16:creationId xmlns:a16="http://schemas.microsoft.com/office/drawing/2014/main" id="{2CAAEB25-A018-DCC8-B6FE-68F8FF9C687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07740" y="1662912"/>
            <a:ext cx="3598292" cy="4645811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2" name="Рисунок 10">
            <a:extLst>
              <a:ext uri="{FF2B5EF4-FFF2-40B4-BE49-F238E27FC236}">
                <a16:creationId xmlns:a16="http://schemas.microsoft.com/office/drawing/2014/main" id="{B7A03CBF-029C-128A-F745-CB7FAC5BF28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12223" y="1662912"/>
            <a:ext cx="3598292" cy="4645811"/>
          </a:xfrm>
          <a:prstGeom prst="roundRect">
            <a:avLst>
              <a:gd name="adj" fmla="val 4635"/>
            </a:avLst>
          </a:prstGeom>
          <a:solidFill>
            <a:schemeClr val="bg2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3" name="Рисунок 10">
            <a:extLst>
              <a:ext uri="{FF2B5EF4-FFF2-40B4-BE49-F238E27FC236}">
                <a16:creationId xmlns:a16="http://schemas.microsoft.com/office/drawing/2014/main" id="{BDA4EDCD-6E8A-A939-A5AA-1E1A90EC9B7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2224" y="1662912"/>
            <a:ext cx="3598292" cy="4645811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9DBF87ED-2817-AF38-A2DB-67D80617A1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7EC5E4-3432-BE4A-B177-7EE0913A1B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70D466-593D-347F-550D-3ED9638FF1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758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98D67202-09AA-A314-66EE-1C60DA1B56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sp>
        <p:nvSpPr>
          <p:cNvPr id="3" name="Рисунок 10">
            <a:extLst>
              <a:ext uri="{FF2B5EF4-FFF2-40B4-BE49-F238E27FC236}">
                <a16:creationId xmlns:a16="http://schemas.microsoft.com/office/drawing/2014/main" id="{F5A4345A-5A9E-4C0D-A98E-1FF30C7961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5937" y="1645921"/>
            <a:ext cx="11196637" cy="4662804"/>
          </a:xfrm>
          <a:prstGeom prst="roundRect">
            <a:avLst>
              <a:gd name="adj" fmla="val 4635"/>
            </a:avLst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7" name="Рисунок 10">
            <a:extLst>
              <a:ext uri="{FF2B5EF4-FFF2-40B4-BE49-F238E27FC236}">
                <a16:creationId xmlns:a16="http://schemas.microsoft.com/office/drawing/2014/main" id="{FC02980C-4479-A45B-C4E3-60121A393F9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8" y="1645921"/>
            <a:ext cx="11196637" cy="4662804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F75BBE5-DF81-DB4F-A75A-BE565FD52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A9D53B-DE52-697B-4CB8-2CFCA2B9FDA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65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2.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12538543-E42B-8E12-6333-117646C549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sp>
        <p:nvSpPr>
          <p:cNvPr id="3" name="Рисунок 10">
            <a:extLst>
              <a:ext uri="{FF2B5EF4-FFF2-40B4-BE49-F238E27FC236}">
                <a16:creationId xmlns:a16="http://schemas.microsoft.com/office/drawing/2014/main" id="{32B7F867-C527-DEDD-6BAE-ACADDD87ECD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5938" y="1645919"/>
            <a:ext cx="5503024" cy="4662805"/>
          </a:xfrm>
          <a:prstGeom prst="roundRect">
            <a:avLst>
              <a:gd name="adj" fmla="val 4635"/>
            </a:avLst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9" name="Рисунок 10">
            <a:extLst>
              <a:ext uri="{FF2B5EF4-FFF2-40B4-BE49-F238E27FC236}">
                <a16:creationId xmlns:a16="http://schemas.microsoft.com/office/drawing/2014/main" id="{00855A10-A4BE-432F-CD11-AE6E988278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8" y="1645919"/>
            <a:ext cx="5503024" cy="4662805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10" name="Рисунок 10">
            <a:extLst>
              <a:ext uri="{FF2B5EF4-FFF2-40B4-BE49-F238E27FC236}">
                <a16:creationId xmlns:a16="http://schemas.microsoft.com/office/drawing/2014/main" id="{33BE6F95-5160-C34F-EEAE-087D18030A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06107" y="1645919"/>
            <a:ext cx="5503024" cy="4662805"/>
          </a:xfrm>
          <a:prstGeom prst="roundRect">
            <a:avLst>
              <a:gd name="adj" fmla="val 4635"/>
            </a:avLst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A30CFA6E-5C43-4A0A-B9BF-2D426DF9A28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09551" y="1645919"/>
            <a:ext cx="5503024" cy="4662805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ED04569-5AD4-0E4E-BE33-B6D11D3900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E0547C-7FB2-F67E-2440-154A32865A2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2904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 userDrawn="1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2.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BB2DF9D3-9D5E-F047-EE91-6FBD092D514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sp>
        <p:nvSpPr>
          <p:cNvPr id="10" name="Рисунок 10">
            <a:extLst>
              <a:ext uri="{FF2B5EF4-FFF2-40B4-BE49-F238E27FC236}">
                <a16:creationId xmlns:a16="http://schemas.microsoft.com/office/drawing/2014/main" id="{35861E11-ED15-B8EF-1D54-330753E2C9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5938" y="1662912"/>
            <a:ext cx="3598292" cy="4645811"/>
          </a:xfrm>
          <a:prstGeom prst="roundRect">
            <a:avLst>
              <a:gd name="adj" fmla="val 4635"/>
            </a:avLst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E5B84A49-1BEE-0476-A930-70E149622D0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9" y="1662914"/>
            <a:ext cx="3598292" cy="4645811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12" name="Рисунок 10">
            <a:extLst>
              <a:ext uri="{FF2B5EF4-FFF2-40B4-BE49-F238E27FC236}">
                <a16:creationId xmlns:a16="http://schemas.microsoft.com/office/drawing/2014/main" id="{3588BB22-5655-A179-8FEE-39ADC971789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07739" y="1662912"/>
            <a:ext cx="3598292" cy="4645811"/>
          </a:xfrm>
          <a:prstGeom prst="roundRect">
            <a:avLst>
              <a:gd name="adj" fmla="val 4635"/>
            </a:avLst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13" name="Рисунок 10">
            <a:extLst>
              <a:ext uri="{FF2B5EF4-FFF2-40B4-BE49-F238E27FC236}">
                <a16:creationId xmlns:a16="http://schemas.microsoft.com/office/drawing/2014/main" id="{54F159F9-9220-EAB7-E53D-DF9502FD8FB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07740" y="1662914"/>
            <a:ext cx="3598292" cy="4645811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14" name="Рисунок 10">
            <a:extLst>
              <a:ext uri="{FF2B5EF4-FFF2-40B4-BE49-F238E27FC236}">
                <a16:creationId xmlns:a16="http://schemas.microsoft.com/office/drawing/2014/main" id="{FBEBE78D-6FFE-3188-2610-40C8FD9D7A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12223" y="1662912"/>
            <a:ext cx="3598292" cy="4645811"/>
          </a:xfrm>
          <a:prstGeom prst="roundRect">
            <a:avLst>
              <a:gd name="adj" fmla="val 4635"/>
            </a:avLst>
          </a:prstGeom>
          <a:solidFill>
            <a:schemeClr val="bg1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15" name="Рисунок 10">
            <a:extLst>
              <a:ext uri="{FF2B5EF4-FFF2-40B4-BE49-F238E27FC236}">
                <a16:creationId xmlns:a16="http://schemas.microsoft.com/office/drawing/2014/main" id="{65C16BCE-6557-E346-D760-A8E7CDB2E71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2224" y="1662914"/>
            <a:ext cx="3598292" cy="4645811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8A0D7AE-E654-CD48-A8BB-0693664C0C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81798F-4E56-BA88-BCCE-20C474CE238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801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Акцентная фраз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D3049429-ED9B-A49B-3FB7-4A6FA4DC08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7" y="512763"/>
            <a:ext cx="9554655" cy="363696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4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>
                <a:effectLst/>
              </a:rPr>
              <a:t>О-нотация лишь показывает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то, как ведёт себя алгоритм 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на большом размере входных данных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1F2C0E-EF26-314B-A1BF-23A49EA774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5C781D-3F17-0F08-8016-FF98CD1D07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498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Акцентная фраз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9B974170-1CE0-4B19-04DA-453C044262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3429645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7" name="Текст 4">
            <a:extLst>
              <a:ext uri="{FF2B5EF4-FFF2-40B4-BE49-F238E27FC236}">
                <a16:creationId xmlns:a16="http://schemas.microsoft.com/office/drawing/2014/main" id="{6711C254-EDA2-DF90-0F15-EC2FEDFF2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8" y="4149725"/>
            <a:ext cx="1715198" cy="176404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lvl="0"/>
            <a:endParaRPr lang="ru-RU" dirty="0"/>
          </a:p>
        </p:txBody>
      </p:sp>
      <p:sp>
        <p:nvSpPr>
          <p:cNvPr id="8" name="Текст 4">
            <a:extLst>
              <a:ext uri="{FF2B5EF4-FFF2-40B4-BE49-F238E27FC236}">
                <a16:creationId xmlns:a16="http://schemas.microsoft.com/office/drawing/2014/main" id="{F5643089-5AC2-8FC3-1EB2-B01ECCC690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2169219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9" name="Текст 4">
            <a:extLst>
              <a:ext uri="{FF2B5EF4-FFF2-40B4-BE49-F238E27FC236}">
                <a16:creationId xmlns:a16="http://schemas.microsoft.com/office/drawing/2014/main" id="{464D42A9-1469-9226-B1E0-165652D79AE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83632" y="3429645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10" name="Текст 4">
            <a:extLst>
              <a:ext uri="{FF2B5EF4-FFF2-40B4-BE49-F238E27FC236}">
                <a16:creationId xmlns:a16="http://schemas.microsoft.com/office/drawing/2014/main" id="{71D17725-C800-418F-21A0-95BD7BC5C5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83632" y="4149725"/>
            <a:ext cx="1715198" cy="176404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lvl="0"/>
            <a:endParaRPr lang="ru-RU" dirty="0"/>
          </a:p>
        </p:txBody>
      </p:sp>
      <p:sp>
        <p:nvSpPr>
          <p:cNvPr id="11" name="Текст 4">
            <a:extLst>
              <a:ext uri="{FF2B5EF4-FFF2-40B4-BE49-F238E27FC236}">
                <a16:creationId xmlns:a16="http://schemas.microsoft.com/office/drawing/2014/main" id="{2D4DF779-672F-E88E-114C-CB3529B86D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83632" y="2169219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2" name="Текст 4">
            <a:extLst>
              <a:ext uri="{FF2B5EF4-FFF2-40B4-BE49-F238E27FC236}">
                <a16:creationId xmlns:a16="http://schemas.microsoft.com/office/drawing/2014/main" id="{C30F6390-859F-B2FE-F2FA-A1E708B52B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15880" y="3429645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83794A4F-8CC1-1F92-AFCB-8BE7042FD7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5880" y="4149725"/>
            <a:ext cx="1715198" cy="176404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lvl="0"/>
            <a:endParaRPr lang="ru-RU" dirty="0"/>
          </a:p>
        </p:txBody>
      </p:sp>
      <p:sp>
        <p:nvSpPr>
          <p:cNvPr id="14" name="Текст 4">
            <a:extLst>
              <a:ext uri="{FF2B5EF4-FFF2-40B4-BE49-F238E27FC236}">
                <a16:creationId xmlns:a16="http://schemas.microsoft.com/office/drawing/2014/main" id="{FBD9081A-F8F5-371F-D520-E4EF10C619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5880" y="2169219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id="{7C3381FF-87F1-1017-CB02-3B07A694AB5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48128" y="3429645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16" name="Текст 4">
            <a:extLst>
              <a:ext uri="{FF2B5EF4-FFF2-40B4-BE49-F238E27FC236}">
                <a16:creationId xmlns:a16="http://schemas.microsoft.com/office/drawing/2014/main" id="{4EAC6777-5798-1BCB-DD3B-6C34D5CB512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248128" y="4149725"/>
            <a:ext cx="1715198" cy="176404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lvl="0"/>
            <a:endParaRPr lang="ru-RU" dirty="0"/>
          </a:p>
        </p:txBody>
      </p:sp>
      <p:sp>
        <p:nvSpPr>
          <p:cNvPr id="17" name="Текст 4">
            <a:extLst>
              <a:ext uri="{FF2B5EF4-FFF2-40B4-BE49-F238E27FC236}">
                <a16:creationId xmlns:a16="http://schemas.microsoft.com/office/drawing/2014/main" id="{0679F085-057A-5CE2-C04C-DB5E3AA019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48128" y="2169219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id="{1D6FEDCC-7890-90CA-5D8B-AC72427799F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80376" y="3429645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19" name="Текст 4">
            <a:extLst>
              <a:ext uri="{FF2B5EF4-FFF2-40B4-BE49-F238E27FC236}">
                <a16:creationId xmlns:a16="http://schemas.microsoft.com/office/drawing/2014/main" id="{2BFEA766-4B4E-E079-0FCB-946A55BF9B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80376" y="4149725"/>
            <a:ext cx="1715198" cy="176404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в несколько строк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Информационный блок</a:t>
            </a:r>
            <a:br>
              <a:rPr lang="ru-RU" dirty="0"/>
            </a:br>
            <a:r>
              <a:rPr lang="ru-RU" dirty="0"/>
              <a:t> в несколько строк</a:t>
            </a:r>
          </a:p>
          <a:p>
            <a:pPr lvl="0"/>
            <a:endParaRPr lang="ru-RU" dirty="0"/>
          </a:p>
        </p:txBody>
      </p:sp>
      <p:sp>
        <p:nvSpPr>
          <p:cNvPr id="20" name="Текст 4">
            <a:extLst>
              <a:ext uri="{FF2B5EF4-FFF2-40B4-BE49-F238E27FC236}">
                <a16:creationId xmlns:a16="http://schemas.microsoft.com/office/drawing/2014/main" id="{C85321B1-E9ED-2852-D7F2-E65B78518E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80376" y="2169219"/>
            <a:ext cx="1715198" cy="56997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4400" b="0" i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22" name="Объект 21">
            <a:extLst>
              <a:ext uri="{FF2B5EF4-FFF2-40B4-BE49-F238E27FC236}">
                <a16:creationId xmlns:a16="http://schemas.microsoft.com/office/drawing/2014/main" id="{B82D57DE-96DA-05C1-696F-58FE0F05E774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515938" y="2936069"/>
            <a:ext cx="11196637" cy="26148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Место для вставки </a:t>
            </a:r>
            <a:r>
              <a:rPr lang="ru-RU" dirty="0" err="1"/>
              <a:t>таймлайна</a:t>
            </a:r>
            <a:r>
              <a:rPr lang="ru-RU" dirty="0"/>
              <a:t> (вставляется вручную через панель «Вставка»)</a:t>
            </a: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F67264DF-A6D4-5402-63D1-955C9510F14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78C5C1B2-80F5-2C49-BF8A-54088B8ABC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2B7B36-FFAC-E293-373A-FFF998F36E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графика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6E7A079D-C37D-33A3-24DC-33E41E2F7C0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8" y="3634032"/>
            <a:ext cx="3798154" cy="195555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>
                <a:effectLst/>
              </a:rPr>
              <a:t>27 марта — мероприятие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для менторов и руководителей стажеров в онлайн и офлайн формате. И подарки!</a:t>
            </a: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F6CFDAA9-12CC-BB83-5137-C3A5EB5B0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2722118"/>
            <a:ext cx="3836606" cy="71913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Короткий 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" name="Рисунок 10">
            <a:extLst>
              <a:ext uri="{FF2B5EF4-FFF2-40B4-BE49-F238E27FC236}">
                <a16:creationId xmlns:a16="http://schemas.microsoft.com/office/drawing/2014/main" id="{DD18C179-25EB-BB36-35D3-09BB1DD20D8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5999" y="512763"/>
            <a:ext cx="5613132" cy="5795962"/>
          </a:xfrm>
          <a:prstGeom prst="roundRect">
            <a:avLst>
              <a:gd name="adj" fmla="val 4635"/>
            </a:avLst>
          </a:prstGeom>
          <a:solidFill>
            <a:schemeClr val="bg2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5" name="Рисунок 10">
            <a:extLst>
              <a:ext uri="{FF2B5EF4-FFF2-40B4-BE49-F238E27FC236}">
                <a16:creationId xmlns:a16="http://schemas.microsoft.com/office/drawing/2014/main" id="{95B6B735-86C9-CAF3-5299-1379A1A0810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096000" y="512763"/>
            <a:ext cx="5613132" cy="5795962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6" name="Текст 4">
            <a:extLst>
              <a:ext uri="{FF2B5EF4-FFF2-40B4-BE49-F238E27FC236}">
                <a16:creationId xmlns:a16="http://schemas.microsoft.com/office/drawing/2014/main" id="{D3683296-359A-2949-10EA-9E5418284B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512762"/>
            <a:ext cx="4763198" cy="1476375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ED9918B-CE23-4D40-B2C7-F18B5A1716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750D5F-CB9A-F8A9-E153-456395951A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30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графика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F6CFDAA9-12CC-BB83-5137-C3A5EB5B0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647762"/>
            <a:ext cx="5089215" cy="107724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Короткий 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Рисунок 10">
            <a:extLst>
              <a:ext uri="{FF2B5EF4-FFF2-40B4-BE49-F238E27FC236}">
                <a16:creationId xmlns:a16="http://schemas.microsoft.com/office/drawing/2014/main" id="{E1452E89-E142-998A-C92F-50E1B4DEA17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2708275"/>
            <a:ext cx="5089214" cy="3600450"/>
          </a:xfrm>
          <a:prstGeom prst="roundRect">
            <a:avLst>
              <a:gd name="adj" fmla="val 4635"/>
            </a:avLst>
          </a:prstGeom>
          <a:solidFill>
            <a:schemeClr val="bg2"/>
          </a:solidFill>
        </p:spPr>
        <p:txBody>
          <a:bodyPr anchor="b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16" name="Рисунок 10">
            <a:extLst>
              <a:ext uri="{FF2B5EF4-FFF2-40B4-BE49-F238E27FC236}">
                <a16:creationId xmlns:a16="http://schemas.microsoft.com/office/drawing/2014/main" id="{D11A175F-AA06-E723-5434-3E215C81BD4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5939" y="2708275"/>
            <a:ext cx="5089214" cy="3600450"/>
          </a:xfrm>
          <a:prstGeom prst="roundRect">
            <a:avLst>
              <a:gd name="adj" fmla="val 4124"/>
            </a:avLst>
          </a:prstGeom>
          <a:noFill/>
        </p:spPr>
        <p:txBody>
          <a:bodyPr anchor="t">
            <a:no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вставки</a:t>
            </a:r>
            <a:br>
              <a:rPr lang="ru-RU" dirty="0"/>
            </a:br>
            <a:r>
              <a:rPr lang="ru-RU" dirty="0"/>
              <a:t>(верхний прозрачный слой)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E57A393-579A-2A66-0E71-D9A05E01C7C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42174" y="1998045"/>
            <a:ext cx="695915" cy="425382"/>
          </a:xfrm>
          <a:solidFill>
            <a:srgbClr val="F0EDFF"/>
          </a:solidFill>
        </p:spPr>
        <p:txBody>
          <a:bodyPr lIns="0" tIns="0" rIns="0" bIns="0" anchor="ctr" anchorCtr="1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6C63C22A-D9D2-0F74-5F6C-058A09EE1F3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83625" y="2709566"/>
            <a:ext cx="695915" cy="425382"/>
          </a:xfrm>
          <a:solidFill>
            <a:srgbClr val="F0EDFF"/>
          </a:solidFill>
        </p:spPr>
        <p:txBody>
          <a:bodyPr lIns="0" tIns="0" rIns="0" bIns="0" anchor="ctr" anchorCtr="1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5038FF3E-A398-9765-C410-AC9CABA8F7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05284" y="2709566"/>
            <a:ext cx="695915" cy="425382"/>
          </a:xfrm>
          <a:solidFill>
            <a:srgbClr val="F0EDFF"/>
          </a:solidFill>
        </p:spPr>
        <p:txBody>
          <a:bodyPr lIns="0" tIns="0" rIns="0" bIns="0" anchor="ctr" anchorCtr="1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20" name="Текст 16">
            <a:extLst>
              <a:ext uri="{FF2B5EF4-FFF2-40B4-BE49-F238E27FC236}">
                <a16:creationId xmlns:a16="http://schemas.microsoft.com/office/drawing/2014/main" id="{B9240B1C-5E1D-4322-9D9C-1E0F16382C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25076" y="3429646"/>
            <a:ext cx="695915" cy="425382"/>
          </a:xfrm>
          <a:solidFill>
            <a:srgbClr val="F0EDFF"/>
          </a:solidFill>
        </p:spPr>
        <p:txBody>
          <a:bodyPr lIns="0" tIns="0" rIns="0" bIns="0" anchor="ctr" anchorCtr="1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22" name="Текст 16">
            <a:extLst>
              <a:ext uri="{FF2B5EF4-FFF2-40B4-BE49-F238E27FC236}">
                <a16:creationId xmlns:a16="http://schemas.microsoft.com/office/drawing/2014/main" id="{B9E450DB-5448-CB4D-BD7C-2A536294B1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690688" y="3429646"/>
            <a:ext cx="695915" cy="425382"/>
          </a:xfrm>
          <a:solidFill>
            <a:srgbClr val="F0EDFF"/>
          </a:solidFill>
        </p:spPr>
        <p:txBody>
          <a:bodyPr lIns="0" tIns="0" rIns="0" bIns="0" anchor="ctr" anchorCtr="1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  <p:sp>
        <p:nvSpPr>
          <p:cNvPr id="27" name="Текст 16">
            <a:extLst>
              <a:ext uri="{FF2B5EF4-FFF2-40B4-BE49-F238E27FC236}">
                <a16:creationId xmlns:a16="http://schemas.microsoft.com/office/drawing/2014/main" id="{6FFC08F0-C80A-F677-FBD9-D956A94426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42174" y="3429645"/>
            <a:ext cx="695915" cy="425382"/>
          </a:xfrm>
          <a:solidFill>
            <a:srgbClr val="F0EDFF"/>
          </a:solidFill>
        </p:spPr>
        <p:txBody>
          <a:bodyPr lIns="0" tIns="0" rIns="0" bIns="0" anchor="ctr" anchorCtr="1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0" name="Текст 16">
            <a:extLst>
              <a:ext uri="{FF2B5EF4-FFF2-40B4-BE49-F238E27FC236}">
                <a16:creationId xmlns:a16="http://schemas.microsoft.com/office/drawing/2014/main" id="{E40623B0-7549-7986-E47E-F1D15614D98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83625" y="4149725"/>
            <a:ext cx="695915" cy="425382"/>
          </a:xfrm>
          <a:solidFill>
            <a:srgbClr val="F0EDFF"/>
          </a:solidFill>
        </p:spPr>
        <p:txBody>
          <a:bodyPr lIns="0" tIns="0" rIns="0" bIns="0" anchor="ctr" anchorCtr="1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07</a:t>
            </a:r>
          </a:p>
        </p:txBody>
      </p:sp>
      <p:sp>
        <p:nvSpPr>
          <p:cNvPr id="31" name="Текст 16">
            <a:extLst>
              <a:ext uri="{FF2B5EF4-FFF2-40B4-BE49-F238E27FC236}">
                <a16:creationId xmlns:a16="http://schemas.microsoft.com/office/drawing/2014/main" id="{742D6251-8B13-9B72-FCCE-3FC5BE88644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05284" y="4149725"/>
            <a:ext cx="695915" cy="425382"/>
          </a:xfrm>
          <a:solidFill>
            <a:srgbClr val="F0EDFF"/>
          </a:solidFill>
        </p:spPr>
        <p:txBody>
          <a:bodyPr lIns="0" tIns="0" rIns="0" bIns="0" anchor="ctr" anchorCtr="1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08</a:t>
            </a:r>
          </a:p>
        </p:txBody>
      </p:sp>
      <p:sp>
        <p:nvSpPr>
          <p:cNvPr id="32" name="Рисунок 10">
            <a:extLst>
              <a:ext uri="{FF2B5EF4-FFF2-40B4-BE49-F238E27FC236}">
                <a16:creationId xmlns:a16="http://schemas.microsoft.com/office/drawing/2014/main" id="{78431590-4979-D204-F151-2733EF43FFA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95998" y="5856790"/>
            <a:ext cx="5616575" cy="451934"/>
          </a:xfrm>
          <a:prstGeom prst="roundRect">
            <a:avLst>
              <a:gd name="adj" fmla="val 28090"/>
            </a:avLst>
          </a:prstGeom>
          <a:solidFill>
            <a:srgbClr val="F0EDFF"/>
          </a:solidFill>
        </p:spPr>
        <p:txBody>
          <a:bodyPr anchor="b">
            <a:noAutofit/>
          </a:bodyPr>
          <a:lstStyle>
            <a:lvl1pPr marL="0" indent="0">
              <a:buNone/>
              <a:defRPr sz="10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Цветной фон</a:t>
            </a:r>
            <a:br>
              <a:rPr lang="ru-RU" dirty="0"/>
            </a:br>
            <a:r>
              <a:rPr lang="ru-RU" dirty="0"/>
              <a:t>(нижний цветной слой)</a:t>
            </a:r>
          </a:p>
        </p:txBody>
      </p:sp>
      <p:sp>
        <p:nvSpPr>
          <p:cNvPr id="34" name="Текст 4">
            <a:extLst>
              <a:ext uri="{FF2B5EF4-FFF2-40B4-BE49-F238E27FC236}">
                <a16:creationId xmlns:a16="http://schemas.microsoft.com/office/drawing/2014/main" id="{C2445CFB-31C2-6E49-4C46-D85E22F7858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0" y="5856619"/>
            <a:ext cx="5616575" cy="452105"/>
          </a:xfrm>
        </p:spPr>
        <p:txBody>
          <a:bodyPr lIns="0" tIns="0" rIns="0" bIns="0" anchor="ctr" anchorCtr="1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Подпись данных</a:t>
            </a:r>
          </a:p>
        </p:txBody>
      </p:sp>
      <p:sp>
        <p:nvSpPr>
          <p:cNvPr id="2" name="Текст 4">
            <a:extLst>
              <a:ext uri="{FF2B5EF4-FFF2-40B4-BE49-F238E27FC236}">
                <a16:creationId xmlns:a16="http://schemas.microsoft.com/office/drawing/2014/main" id="{054A8B9D-54E1-EB5F-2F9B-7AEFFF79DD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819D236-7065-614C-8A41-132204587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23B523-7002-920A-CE45-F7183B8C4DD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97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Номер слайда 5">
            <a:extLst>
              <a:ext uri="{FF2B5EF4-FFF2-40B4-BE49-F238E27FC236}">
                <a16:creationId xmlns:a16="http://schemas.microsoft.com/office/drawing/2014/main" id="{5D1DEFD9-37FB-DD3F-F6C6-98F2D9499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8685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Таблица 5">
            <a:extLst>
              <a:ext uri="{FF2B5EF4-FFF2-40B4-BE49-F238E27FC236}">
                <a16:creationId xmlns:a16="http://schemas.microsoft.com/office/drawing/2014/main" id="{F7562B94-E37E-193B-79D9-21FFABEFD53B}"/>
              </a:ext>
            </a:extLst>
          </p:cNvPr>
          <p:cNvSpPr>
            <a:spLocks noGrp="1"/>
          </p:cNvSpPr>
          <p:nvPr>
            <p:ph type="tbl" sz="quarter" idx="23" hasCustomPrompt="1"/>
          </p:nvPr>
        </p:nvSpPr>
        <p:spPr>
          <a:xfrm>
            <a:off x="515938" y="3047999"/>
            <a:ext cx="9807505" cy="3260725"/>
          </a:xfrm>
        </p:spPr>
        <p:txBody>
          <a:bodyPr>
            <a:normAutofit/>
          </a:bodyPr>
          <a:lstStyle>
            <a:lvl1pPr marL="0" indent="0">
              <a:buNone/>
              <a:defRPr sz="1200" b="0" i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Таблица (вставляется вручную через панель «Вставка»)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4F7DC7C-1D61-56A2-29D4-056314F86C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5939" y="1997076"/>
            <a:ext cx="5580061" cy="8731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>
                <a:effectLst/>
              </a:rPr>
              <a:t>Короткий подзаголовок</a:t>
            </a:r>
            <a:br>
              <a:rPr lang="ru-RU" dirty="0">
                <a:effectLst/>
              </a:rPr>
            </a:br>
            <a:r>
              <a:rPr lang="ru-RU" dirty="0">
                <a:effectLst/>
              </a:rPr>
              <a:t>в две строки</a:t>
            </a:r>
            <a:endParaRPr lang="ru-RU" dirty="0"/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A98C0BA1-FC0B-6236-A7B2-3F8F1ABDBFA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12763"/>
            <a:ext cx="10895774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Заголовок в одну строку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A0A58C1-83D4-1B40-BD2B-8A08437E88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532744-04BC-253B-A886-69982A8B38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1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bg>
      <p:bgPr>
        <a:solidFill>
          <a:srgbClr val="FFF9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F2F2B428-6E8A-A9A4-905C-739E6A9E93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7" y="512763"/>
            <a:ext cx="11196637" cy="75565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ts val="5100"/>
              </a:lnSpc>
              <a:buNone/>
              <a:defRPr sz="5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Спасибо за внимание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98E704B4-6241-92FB-2E18-BA70C9CEFCF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071100" y="512763"/>
            <a:ext cx="1641475" cy="164147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Место для </a:t>
            </a:r>
            <a:r>
              <a:rPr lang="en-US" dirty="0"/>
              <a:t>QR-</a:t>
            </a:r>
            <a:r>
              <a:rPr lang="ru-RU" dirty="0"/>
              <a:t>кода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B7334EC-A7E4-2FEF-44E1-3808E514B7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5938" y="2682240"/>
            <a:ext cx="11170792" cy="368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212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3">
          <p15:clr>
            <a:srgbClr val="FBAE40"/>
          </p15:clr>
        </p15:guide>
        <p15:guide id="2" pos="325">
          <p15:clr>
            <a:srgbClr val="FBAE40"/>
          </p15:clr>
        </p15:guide>
        <p15:guide id="3" pos="7378">
          <p15:clr>
            <a:srgbClr val="FBAE40"/>
          </p15:clr>
        </p15:guide>
        <p15:guide id="4" orient="horz" pos="3974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  <p15:guide id="7" orient="horz" pos="1706">
          <p15:clr>
            <a:srgbClr val="FBAE40"/>
          </p15:clr>
        </p15:guide>
        <p15:guide id="8" orient="horz" pos="1253">
          <p15:clr>
            <a:srgbClr val="FBAE40"/>
          </p15:clr>
        </p15:guide>
        <p15:guide id="9" orient="horz" pos="799">
          <p15:clr>
            <a:srgbClr val="FBAE40"/>
          </p15:clr>
        </p15:guide>
        <p15:guide id="10" orient="horz" pos="2614">
          <p15:clr>
            <a:srgbClr val="FBAE40"/>
          </p15:clr>
        </p15:guide>
        <p15:guide id="11" orient="horz" pos="3067">
          <p15:clr>
            <a:srgbClr val="FBAE40"/>
          </p15:clr>
        </p15:guide>
        <p15:guide id="12" orient="horz" pos="352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4C78E-5481-0269-30E1-37F4F0DF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556AD6-BAEA-C31A-D622-D195B4214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5BA77A11-B301-155C-4B10-24FD05F6E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69375" y="63992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C563EDB-1A24-CF47-9579-1532A136267A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4880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1" r:id="rId2"/>
    <p:sldLayoutId id="2147483682" r:id="rId3"/>
    <p:sldLayoutId id="2147483683" r:id="rId4"/>
    <p:sldLayoutId id="2147483685" r:id="rId5"/>
    <p:sldLayoutId id="2147483686" r:id="rId6"/>
    <p:sldLayoutId id="2147483691" r:id="rId7"/>
    <p:sldLayoutId id="2147483694" r:id="rId8"/>
    <p:sldLayoutId id="2147483687" r:id="rId9"/>
    <p:sldLayoutId id="2147483693" r:id="rId10"/>
    <p:sldLayoutId id="2147483695" r:id="rId11"/>
    <p:sldLayoutId id="2147483688" r:id="rId12"/>
    <p:sldLayoutId id="2147483690" r:id="rId13"/>
    <p:sldLayoutId id="2147483698" r:id="rId14"/>
    <p:sldLayoutId id="2147483697" r:id="rId15"/>
    <p:sldLayoutId id="2147483696" r:id="rId16"/>
    <p:sldLayoutId id="214748368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Yandex Sans Geo Medium" pitchFamily="2" charset="0"/>
          <a:ea typeface="+mn-ea"/>
          <a:cs typeface="Yandex Sans Geo Medium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Yandex Sans Geo Medium" pitchFamily="2" charset="0"/>
          <a:ea typeface="+mn-ea"/>
          <a:cs typeface="Yandex Sans Geo Medium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Yandex Sans Geo Medium" pitchFamily="2" charset="0"/>
          <a:ea typeface="+mn-ea"/>
          <a:cs typeface="Yandex Sans Geo Medium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  <Relationship Id="rId3" Type="http://schemas.openxmlformats.org/officeDocument/2006/relationships/image" Target="../media/image15.png"/>
  <Relationship Id="rId4" Type="http://schemas.openxmlformats.org/officeDocument/2006/relationships/image" Target="../media/image16.jpe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image" Target="../media/image2.emf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image" Target="../media/image2.emf"/>
  <Relationship Id="rId3" Type="http://schemas.openxmlformats.org/officeDocument/2006/relationships/image" Target="../media/image17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5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6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7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8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image" Target="../media/image2.emf"/>
  <Relationship Id="rId3" Type="http://schemas.openxmlformats.org/officeDocument/2006/relationships/image" Target="../media/image1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10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12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13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16.xml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17.xml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18.xml"/>
</Relationships>
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</Relationships>
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20.xml"/>
</Relationships>
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21.xml"/>
</Relationships>
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22.xml"/>
</Relationships>
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5.xml"/>
  <Relationship Id="rId2" Type="http://schemas.openxmlformats.org/officeDocument/2006/relationships/image" Target="../media/image2.emf"/>
  <Relationship Id="rId3" Type="http://schemas.openxmlformats.org/officeDocument/2006/relationships/image" Target="../media/image19.png"/>
</Relationships>
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24.xml"/>
</Relationships>
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</Relationships>
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</Relationships>
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27.xml"/>
</Relationships>
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</Relationships>
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29.xml"/>
</Relationships>
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30.xml"/>
</Relationships>
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31.xml"/>
</Relationships>
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</Relationships>
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33.xml"/>
</Relationships>
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34.xml"/>
</Relationships>
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35.xml"/>
</Relationships>
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image" Target="../media/image2.emf"/>
  <Relationship Id="rId3" Type="http://schemas.openxmlformats.org/officeDocument/2006/relationships/image" Target="../media/image17.png"/>
</Relationships>
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2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37.xml"/>
</Relationships>
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38.xml"/>
</Relationships>

</file>

<file path=ppt/slides/_rels/slide3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39.xml"/>
</Relationships>

</file>

<file path=ppt/slides/_rels/slide4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40.xml"/>
</Relationships>

</file>

<file path=ppt/slides/_rels/slide4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41.xml"/>
</Relationships>

</file>

<file path=ppt/slides/_rels/slide4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</Relationships>

</file>

<file path=ppt/slides/_rels/slide4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43.xml"/>
</Relationships>

</file>

<file path=ppt/slides/_rels/slide4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44.xml"/>
</Relationships>

</file>

<file path=ppt/slides/_rels/slide4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45.xml"/>
</Relationships>

</file>

<file path=ppt/slides/_rels/slide4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46.xml"/>
</Relationships>

</file>

<file path=ppt/slides/_rels/slide4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</Relationships>

</file>

<file path=ppt/slides/_rels/slide4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48.xml"/>
</Relationships>

</file>

<file path=ppt/slides/_rels/slide4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49.xml"/>
</Relationships>

</file>

<file path=ppt/slides/_rels/slide5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image" Target="../media/image2.emf"/>
  <Relationship Id="rId3" Type="http://schemas.openxmlformats.org/officeDocument/2006/relationships/image" Target="../media/image18.png"/>
</Relationships>

</file>

<file path=ppt/slides/_rels/slide5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51.xml"/>
</Relationships>

</file>

<file path=ppt/slides/_rels/slide5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  <Relationship Id="rId4" Type="http://schemas.openxmlformats.org/officeDocument/2006/relationships/notesSlide" Target="../notesSlides/notesSlide52.xml"/>
</Relationships>

</file>

<file path=ppt/slides/_rels/slide5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2.xml"/>
  <Relationship Id="rId2" Type="http://schemas.openxmlformats.org/officeDocument/2006/relationships/image" Target="../media/image2.emf"/>
  <Relationship Id="rId3" Type="http://schemas.openxmlformats.org/officeDocument/2006/relationships/image" Target="../media/image3.png"/>
</Relationships>

</file>

<file path=ppt/slides/_rels/slide5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7.xml"/>
  <Relationship Id="rId2" Type="http://schemas.openxmlformats.org/officeDocument/2006/relationships/image" Target="../media/image20.png"/>
  <Relationship Id="rId3" Type="http://schemas.openxmlformats.org/officeDocument/2006/relationships/image" Target="../media/image4.emf"/>
</Relationships>
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a="http://schemas.openxmlformats.org/drawingml/2006/main" xmlns:p="http://schemas.openxmlformats.org/presentationml/2006/main" xmlns:r="http://schemas.openxmlformats.org/officeDocument/2006/relationships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12" name="Picture 11">
            <a:extLst>
              <a:ext uri="{FF2B5EF4-FFF2-40B4-BE49-F238E27FC236}">
                <a16:creationId id="{A527F89D-F801-9995-E48B-868015716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38" y="512763"/>
            <a:ext cx="3802062" cy="2506505"/>
          </a:xfrm>
          <a:prstGeom prst="rect">
            <a:avLst/>
          </a:prstGeom>
        </p:spPr>
      </p:pic>
      <p:sp>
        <p:nvSpPr>
          <p:cNvPr id="9" name="Название презентации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>
              <a:lnSpc>
                <a:spcPts val="3400"/>
              </a:lnSpc>
            </a:pPr>
            <a:r>
              <a:rPr lang="ru-RU" sz="2800"/>
              <a:t>Back to Offline: как избавиться от интернет-зависимости</a:t>
            </a:r>
          </a:p>
        </p:txBody>
      </p:sp>
      <p:sp>
        <p:nvSpPr>
          <p:cNvPr id="10" name="Имя и должность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ru-RU"/>
              <a:t>Илья Черкасов</a:t>
            </a:r>
          </a:p>
          <a:p>
            <a:r>
              <a:rPr lang="ru-RU"/>
              <a:t>мобильный разработчик в Финтехе</a:t>
            </a:r>
          </a:p>
        </p:txBody>
      </p:sp>
      <p:sp>
        <p:nvSpPr>
          <p:cNvPr id="13" name="Подзаголовок"/>
          <p:cNvSpPr txBox="1"/>
          <p:nvPr/>
        </p:nvSpPr>
        <p:spPr>
          <a:xfrm>
            <a:off x="515938" y="4700000"/>
            <a:ext cx="9000000" cy="30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600">
                <a:latin typeface="Arial"/>
              </a:rPr>
              <a:t>Offline-режим, отказоустойчивость и безопасность данных в iOS</a:t>
            </a:r>
          </a:p>
        </p:txBody>
      </p:sp>
      <p:pic>
        <p:nvPicPr>
          <p:cNvPr id="100" name="Фото спикера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38" y="4978382"/>
            <a:ext cx="1366855" cy="13668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23" name="Рисунок 22">
            <a:extLst>
              <a:ext uri="{FF2B5EF4-FFF2-40B4-BE49-F238E27FC236}">
                <a16:creationId id="{EA5BA821-C6DE-9040-9006-6E4184139A4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sp>
        <p:nvSpPr>
          <p:cNvPr id="9" name="Содержание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ru-RU"/>
              <a:t>Содержание</a:t>
            </a:r>
          </a:p>
        </p:txBody>
      </p:sp>
      <p:sp>
        <p:nvSpPr>
          <p:cNvPr id="10" name="Текст 1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ru-RU" sz="1600"/>
              <a:t>Введение и проблема</a:t>
            </a:r>
          </a:p>
        </p:txBody>
      </p:sp>
      <p:sp>
        <p:nvSpPr>
          <p:cNvPr id="30" name="Номер 01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ru-RU"/>
              <a:t>01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ru-RU" sz="1600"/>
              <a:t>Кэширование и</a:t>
            </a:r>
          </a:p>
          <a:p>
            <a:r>
              <a:rPr lang="ru-RU" sz="1600"/>
              <a:t>инвалидация</a:t>
            </a:r>
          </a:p>
        </p:txBody>
      </p:sp>
      <p:sp>
        <p:nvSpPr>
          <p:cNvPr id="31" name="Номер 0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lang="ru-RU"/>
              <a:t>02</a:t>
            </a:r>
          </a:p>
        </p:txBody>
      </p:sp>
      <p:sp>
        <p:nvSpPr>
          <p:cNvPr id="12" name="Текст 3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1600"/>
              <a:t>Offline-first</a:t>
            </a:r>
          </a:p>
        </p:txBody>
      </p:sp>
      <p:sp>
        <p:nvSpPr>
          <p:cNvPr id="32" name="Номер 03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rPr lang="ru-RU"/>
              <a:t>03</a:t>
            </a:r>
          </a:p>
        </p:txBody>
      </p:sp>
      <p:sp>
        <p:nvSpPr>
          <p:cNvPr id="13" name="Текст 4"/>
          <p:cNvSpPr>
            <a:spLocks noGrp="1"/>
          </p:cNvSpPr>
          <p:nvPr>
            <p:ph type="body" idx="12"/>
          </p:nvPr>
        </p:nvSpPr>
        <p:spPr/>
        <p:txBody>
          <a:bodyPr/>
          <a:lstStyle/>
          <a:p>
            <a:r>
              <a:rPr lang="ru-RU" sz="1600"/>
              <a:t>Безопасность и</a:t>
            </a:r>
          </a:p>
          <a:p>
            <a:r>
              <a:rPr lang="ru-RU" sz="1600"/>
              <a:t>хранение</a:t>
            </a:r>
          </a:p>
        </p:txBody>
      </p:sp>
      <p:sp>
        <p:nvSpPr>
          <p:cNvPr id="33" name="Номер 04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rPr lang="ru-RU"/>
              <a:t>04</a:t>
            </a:r>
          </a:p>
        </p:txBody>
      </p:sp>
      <p:sp>
        <p:nvSpPr>
          <p:cNvPr id="14" name="Текст 5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ru-RU" sz="1600"/>
              <a:t>Итоги</a:t>
            </a:r>
          </a:p>
        </p:txBody>
      </p:sp>
      <p:sp>
        <p:nvSpPr>
          <p:cNvPr id="34" name="Номер 05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rPr lang="ru-RU"/>
              <a:t>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C0EDD1BC-B8D8-8048-A89D-A6115FE5B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ru-RU"/>
              <a:t>Введение и</a:t>
            </a:r>
          </a:p>
          <a:p>
            <a:r>
              <a:rPr lang="ru-RU"/>
              <a:t>проблема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ru-RU"/>
              <a:t>01</a:t>
            </a:r>
          </a:p>
        </p:txBody>
      </p:sp>
      <p:pic>
        <p:nvPicPr>
          <p:cNvPr id="100" name="Картинка лектора 1"/>
          <p:cNvPicPr>
            <a:picLocks noChangeAspect="1"/>
          </p:cNvPicPr>
          <p:nvPr/>
        </p:nvPicPr>
        <p:blipFill>
          <a:blip r:embed="rId3"/>
          <a:srcRect l="-12466" t="9403" r="-1" b="18502"/>
          <a:stretch/>
        </p:blipFill>
        <p:spPr>
          <a:xfrm>
            <a:off x="6096000" y="2708276"/>
            <a:ext cx="5616575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4000"/>
              <a:t>О себе и том, что у меня болит</a:t>
            </a:r>
          </a:p>
        </p:txBody>
      </p:sp>
      <p:sp>
        <p:nvSpPr>
          <p:cNvPr id="11" name="Free TextBox"/>
          <p:cNvSpPr txBox="1"/>
          <p:nvPr/>
        </p:nvSpPr>
        <p:spPr>
          <a:xfrm>
            <a:off x="720000" y="2300000"/>
            <a:ext cx="10752000" cy="410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pPr marL="285750" indent="-285750">
              <a:buFont typeface="Arial"/>
              <a:buChar char="•"/>
            </a:pPr>
            <a:r>
              <a:rPr lang="ru-RU" sz="2000">
                <a:latin typeface="Arial"/>
              </a:rPr>
              <a:t>Не люблю стоять в очереди</a:t>
            </a:r>
          </a:p>
          <a:p>
            <a:pPr marL="285750" indent="-285750">
              <a:buFont typeface="Arial"/>
              <a:buChar char="•"/>
            </a:pPr>
            <a:r>
              <a:rPr lang="ru-RU" sz="2000">
                <a:latin typeface="Arial"/>
              </a:rPr>
              <a:t>Не люблю грузить билеты на концерты несколько раз</a:t>
            </a:r>
          </a:p>
          <a:p>
            <a:pPr marL="285750" indent="-285750">
              <a:buFont typeface="Arial"/>
              <a:buChar char="•"/>
            </a:pPr>
            <a:r>
              <a:rPr lang="ru-RU" sz="2000">
                <a:latin typeface="Arial"/>
              </a:rPr>
              <a:t>Болит, когда не продают прохладительные напитки</a:t>
            </a:r>
          </a:p>
          <a:p>
            <a:pPr marL="285750" indent="-285750">
              <a:buFont typeface="Arial"/>
              <a:buChar char="•"/>
            </a:pPr>
            <a:r>
              <a:rPr lang="ru-RU" sz="2000">
                <a:latin typeface="Arial"/>
              </a:rPr>
              <a:t>Болит, когда надо оплачивать через QR в подвале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4000"/>
              <a:t>Стартовая точка разработки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commit 1 · LIVE DEMO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515938" y="2050000"/>
            <a:ext cx="3567600" cy="350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Лента</a:t>
            </a:r>
          </a:p>
          <a:p>
            <a:pPr algn="l"/>
            <a:r>
              <a:rPr lang="ru-RU" sz="2400">
                <a:latin typeface="Arial"/>
              </a:rPr>
              <a:t>посты и картинки</a:t>
            </a:r>
          </a:p>
        </p:txBody>
      </p:sp>
      <p:sp>
        <p:nvSpPr>
          <p:cNvPr id="13" name="Карточка"/>
          <p:cNvSpPr/>
          <p:nvPr/>
        </p:nvSpPr>
        <p:spPr>
          <a:xfrm>
            <a:off x="4312138" y="2050000"/>
            <a:ext cx="3567600" cy="350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Билет с QR</a:t>
            </a:r>
          </a:p>
          <a:p>
            <a:pPr algn="l"/>
            <a:r>
              <a:rPr lang="ru-RU" sz="2400">
                <a:latin typeface="Arial"/>
              </a:rPr>
              <a:t>посадочный / пропускной сценарий</a:t>
            </a:r>
          </a:p>
        </p:txBody>
      </p:sp>
      <p:sp>
        <p:nvSpPr>
          <p:cNvPr id="14" name="Карточка"/>
          <p:cNvSpPr/>
          <p:nvPr/>
        </p:nvSpPr>
        <p:spPr>
          <a:xfrm>
            <a:off x="8108338" y="2050000"/>
            <a:ext cx="3567600" cy="350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Баланс</a:t>
            </a:r>
          </a:p>
          <a:p>
            <a:pPr algn="l"/>
            <a:r>
              <a:rPr lang="ru-RU" sz="2400">
                <a:latin typeface="Arial"/>
              </a:rPr>
              <a:t>финансовое состояние пользователя</a:t>
            </a:r>
          </a:p>
        </p:txBody>
      </p:sp>
      <p:sp>
        <p:nvSpPr>
          <p:cNvPr id="15" name="Карточка"/>
          <p:cNvSpPr/>
          <p:nvPr/>
        </p:nvSpPr>
        <p:spPr>
          <a:xfrm>
            <a:off x="515938" y="5690000"/>
            <a:ext cx="11160000" cy="760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ctr"/>
            <a:r>
              <a:rPr lang="ru-RU" sz="2400">
                <a:latin typeface="Arial"/>
              </a:rPr>
              <a:t>Коммит 1: online-only, пока сеть есть — всё выглядит нормально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4000"/>
              <a:t>Откуда данные демо-приложения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Демо специально устроено так, чтобы показать HTTP-кэш, редиректы и local-first</a:t>
            </a:r>
          </a:p>
          <a:p>
            <a:r>
              <a:rPr lang="ru-RU" sz="1800">
                <a:latin typeface="Arial"/>
              </a:rPr>
              <a:t>хранение</a:t>
            </a:r>
          </a:p>
        </p:txBody>
      </p:sp>
      <p:graphicFrame>
        <p:nvGraphicFramePr>
          <p:cNvPr id="12" name="Таблица"/>
          <p:cNvGraphicFramePr>
            <a:graphicFrameLocks noGrp="1"/>
          </p:cNvGraphicFramePr>
          <p:nvPr/>
        </p:nvGraphicFramePr>
        <p:xfrm>
          <a:off x="515938" y="2011440"/>
          <a:ext cx="11160000" cy="22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5384"/>
                <a:gridCol w="2575384"/>
                <a:gridCol w="6009230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Область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Источник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Что важно для лекции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Лента / профиль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JSONPlaceholder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fake REST API, GET-ответы с Cache-Control и ETag; баланс и билет — один эндпоинт GET /users/1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Картинки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Lorem Picsum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стабильный seed по id поста, 302-редирект на CDN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Билет / баланс / QR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клиентская сборка из профиля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JSONPlaceholder не отдаёт кошельковые данные; payload в Ticket.qrPayload, QR рисуется на экране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4000"/>
              <a:t>Сеть — ненадёжный внешний ресурс</a:t>
            </a:r>
          </a:p>
        </p:txBody>
      </p:sp>
      <p:sp>
        <p:nvSpPr>
          <p:cNvPr id="11" name="Карточка"/>
          <p:cNvSpPr/>
          <p:nvPr/>
        </p:nvSpPr>
        <p:spPr>
          <a:xfrm>
            <a:off x="515938" y="1620000"/>
            <a:ext cx="11160000" cy="1150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ctr"/>
            <a:r>
              <a:rPr lang="ru-RU" sz="2400">
                <a:latin typeface="Arial"/>
              </a:rPr>
              <a:t>«Попробуйте позже» = приложение перекладывает проблему на пользователя, а не offline-режим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515938" y="2975740"/>
            <a:ext cx="5465700" cy="347426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Где ломается сеть</a:t>
            </a:r>
          </a:p>
          <a:p>
            <a:pPr algn="l"/>
            <a:r>
              <a:rPr lang="ru-RU" sz="2400">
                <a:latin typeface="Arial"/>
              </a:rPr>
              <a:t>метро · самолёт · лифт · роуминг · стадион · плохой Wi-Fi</a:t>
            </a:r>
          </a:p>
        </p:txBody>
      </p:sp>
      <p:sp>
        <p:nvSpPr>
          <p:cNvPr id="13" name="Карточка"/>
          <p:cNvSpPr/>
          <p:nvPr/>
        </p:nvSpPr>
        <p:spPr>
          <a:xfrm>
            <a:off x="6210238" y="2975740"/>
            <a:ext cx="5465700" cy="347426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Вывод</a:t>
            </a:r>
          </a:p>
          <a:p>
            <a:pPr algn="l"/>
            <a:r>
              <a:rPr lang="ru-RU" sz="2400">
                <a:latin typeface="Arial"/>
              </a:rPr>
              <a:t>•  сеть отваливается постоянно</a:t>
            </a:r>
          </a:p>
          <a:p>
            <a:pPr algn="l"/>
            <a:r>
              <a:rPr lang="ru-RU" sz="2400">
                <a:latin typeface="Arial"/>
              </a:rPr>
              <a:t>•  проектируем отказ как норму, а не исключение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4000"/>
              <a:t>Роудмап развития приложения</a:t>
            </a:r>
          </a:p>
        </p:txBody>
      </p:sp>
      <p:sp>
        <p:nvSpPr>
          <p:cNvPr id="11" name="Карточка"/>
          <p:cNvSpPr/>
          <p:nvPr/>
        </p:nvSpPr>
        <p:spPr>
          <a:xfrm>
            <a:off x="515938" y="2326420"/>
            <a:ext cx="3480000" cy="2600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Online-Only</a:t>
            </a:r>
          </a:p>
          <a:p>
            <a:pPr algn="l"/>
            <a:r>
              <a:rPr lang="ru-RU" sz="2400">
                <a:latin typeface="Arial"/>
              </a:rPr>
              <a:t>без интернета — белый экран или ошибка</a:t>
            </a:r>
          </a:p>
        </p:txBody>
      </p:sp>
      <p:sp>
        <p:nvSpPr>
          <p:cNvPr id="12" name="Стрелка"/>
          <p:cNvSpPr/>
          <p:nvPr/>
        </p:nvSpPr>
        <p:spPr>
          <a:xfrm>
            <a:off x="4039138" y="3506420"/>
            <a:ext cx="273600" cy="240000"/>
          </a:xfrm>
          <a:prstGeom prst="rightArrow">
            <a:avLst/>
          </a:prstGeom>
          <a:solidFill>
            <a:srgbClr val="3B2C7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Карточка"/>
          <p:cNvSpPr/>
          <p:nvPr/>
        </p:nvSpPr>
        <p:spPr>
          <a:xfrm>
            <a:off x="4355938" y="2326420"/>
            <a:ext cx="3480000" cy="2600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Кэш для чтения</a:t>
            </a:r>
          </a:p>
          <a:p>
            <a:pPr algn="l"/>
            <a:r>
              <a:rPr lang="ru-RU" sz="2400">
                <a:latin typeface="Arial"/>
              </a:rPr>
              <a:t>показываем уже загруженное</a:t>
            </a:r>
          </a:p>
        </p:txBody>
      </p:sp>
      <p:sp>
        <p:nvSpPr>
          <p:cNvPr id="14" name="Стрелка"/>
          <p:cNvSpPr/>
          <p:nvPr/>
        </p:nvSpPr>
        <p:spPr>
          <a:xfrm>
            <a:off x="7879138" y="3506420"/>
            <a:ext cx="273600" cy="240000"/>
          </a:xfrm>
          <a:prstGeom prst="rightArrow">
            <a:avLst/>
          </a:prstGeom>
          <a:solidFill>
            <a:srgbClr val="3B2C7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5" name="Карточка"/>
          <p:cNvSpPr/>
          <p:nvPr/>
        </p:nvSpPr>
        <p:spPr>
          <a:xfrm>
            <a:off x="8195938" y="2326420"/>
            <a:ext cx="3480000" cy="2600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Offline-First</a:t>
            </a:r>
          </a:p>
          <a:p>
            <a:pPr algn="l"/>
            <a:r>
              <a:rPr lang="ru-RU" sz="2400">
                <a:latin typeface="Arial"/>
              </a:rPr>
              <a:t>локальные данные — источник правды</a:t>
            </a:r>
          </a:p>
        </p:txBody>
      </p:sp>
      <p:sp>
        <p:nvSpPr>
          <p:cNvPr id="16" name="Карточка"/>
          <p:cNvSpPr/>
          <p:nvPr/>
        </p:nvSpPr>
        <p:spPr>
          <a:xfrm>
            <a:off x="515938" y="5670000"/>
            <a:ext cx="11160000" cy="760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ctr"/>
            <a:r>
              <a:rPr lang="ru-RU" sz="1900">
                <a:latin typeface="Arial"/>
              </a:rPr>
              <a:t>Отказоустойчивость — это ступени: насколько приложение переживает пропадание сети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D64B4E99-3D1C-2F45-BE2A-0CAD19ADB4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ru-RU"/>
              <a:t>Кэширование и</a:t>
            </a:r>
          </a:p>
          <a:p>
            <a:r>
              <a:rPr lang="ru-RU"/>
              <a:t>инвалидация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ru-RU"/>
              <a:t>02</a:t>
            </a:r>
          </a:p>
        </p:txBody>
      </p:sp>
      <p:pic>
        <p:nvPicPr>
          <p:cNvPr id="100" name="Картинка лектора 1"/>
          <p:cNvPicPr>
            <a:picLocks noChangeAspect="1"/>
          </p:cNvPicPr>
          <p:nvPr/>
        </p:nvPicPr>
        <p:blipFill>
          <a:blip r:embed="rId3"/>
          <a:srcRect l="-5989" t="20381" r="-6362" b="22157"/>
          <a:stretch/>
        </p:blipFill>
        <p:spPr>
          <a:xfrm>
            <a:off x="6096000" y="2708276"/>
            <a:ext cx="5616575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URLCache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commit 2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515938" y="2050000"/>
            <a:ext cx="3567600" cy="350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Прослойка</a:t>
            </a:r>
          </a:p>
          <a:p>
            <a:pPr algn="l"/>
            <a:r>
              <a:rPr lang="ru-RU" sz="2400">
                <a:latin typeface="Arial"/>
              </a:rPr>
              <a:t>•  между кодом и сетью</a:t>
            </a:r>
          </a:p>
          <a:p>
            <a:pPr algn="l"/>
            <a:r>
              <a:rPr lang="ru-RU" sz="2400">
                <a:latin typeface="Arial"/>
              </a:rPr>
              <a:t>•  система сама решает: сеть или сохранённый ответ</a:t>
            </a:r>
          </a:p>
        </p:txBody>
      </p:sp>
      <p:sp>
        <p:nvSpPr>
          <p:cNvPr id="13" name="Карточка"/>
          <p:cNvSpPr/>
          <p:nvPr/>
        </p:nvSpPr>
        <p:spPr>
          <a:xfrm>
            <a:off x="4312138" y="2050000"/>
            <a:ext cx="3567600" cy="350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Два уровня</a:t>
            </a:r>
          </a:p>
          <a:p>
            <a:pPr algn="l"/>
            <a:r>
              <a:rPr lang="ru-RU" sz="2400">
                <a:latin typeface="Arial"/>
              </a:rPr>
              <a:t>•  Memory — RAM, пока запущено приложение</a:t>
            </a:r>
          </a:p>
          <a:p>
            <a:pPr algn="l"/>
            <a:r>
              <a:rPr lang="ru-RU" sz="2400">
                <a:latin typeface="Arial"/>
              </a:rPr>
              <a:t>•  Disk — переживает перезапуск, Library/Caches (ОС вправе вычистить)</a:t>
            </a:r>
          </a:p>
        </p:txBody>
      </p:sp>
      <p:sp>
        <p:nvSpPr>
          <p:cNvPr id="14" name="Карточка"/>
          <p:cNvSpPr/>
          <p:nvPr/>
        </p:nvSpPr>
        <p:spPr>
          <a:xfrm>
            <a:off x="8108338" y="2050000"/>
            <a:ext cx="3567600" cy="350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Кто управляет</a:t>
            </a:r>
          </a:p>
          <a:p>
            <a:pPr algn="l"/>
            <a:r>
              <a:rPr lang="ru-RU" sz="2400">
                <a:latin typeface="Arial"/>
              </a:rPr>
              <a:t>не клиент, а сервер — через HTTP-заголовки</a:t>
            </a:r>
          </a:p>
        </p:txBody>
      </p:sp>
      <p:sp>
        <p:nvSpPr>
          <p:cNvPr id="15" name="Карточка"/>
          <p:cNvSpPr/>
          <p:nvPr/>
        </p:nvSpPr>
        <p:spPr>
          <a:xfrm>
            <a:off x="515938" y="5690000"/>
            <a:ext cx="11160000" cy="760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ctr"/>
            <a:r>
              <a:rPr lang="ru-RU" sz="1900">
                <a:latin typeface="Arial"/>
              </a:rPr>
              <a:t>Кэшем управляет сервер через HTTP-заголовки; старые записи вытесняются автоматически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URLCache — подключение</a:t>
            </a:r>
          </a:p>
        </p:txBody>
      </p:sp>
      <p:sp>
        <p:nvSpPr>
          <p:cNvPr id="11" name="Подложка кода"/>
          <p:cNvSpPr/>
          <p:nvPr/>
        </p:nvSpPr>
        <p:spPr>
          <a:xfrm>
            <a:off x="515938" y="1500000"/>
            <a:ext cx="11160000" cy="2274570"/>
          </a:xfrm>
          <a:prstGeom prst="roundRect">
            <a:avLst>
              <a:gd name="adj" fmla="val 8000"/>
            </a:avLst>
          </a:prstGeom>
          <a:solidFill>
            <a:srgbClr val="D6DA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" name="Код"/>
          <p:cNvSpPr txBox="1"/>
          <p:nvPr/>
        </p:nvSpPr>
        <p:spPr>
          <a:xfrm>
            <a:off x="653098" y="1637160"/>
            <a:ext cx="10885680" cy="200025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pPr marL="0" indent="0">
              <a:buNone/>
            </a:pP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cache =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URLCache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(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memoryCapacity: </a:t>
            </a:r>
            <a:r>
              <a:rPr lang="ru-RU" sz="1400">
                <a:solidFill>
                  <a:srgbClr val="1C00CF"/>
                </a:solidFill>
                <a:latin typeface="Menlo"/>
              </a:rPr>
              <a:t>16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* </a:t>
            </a:r>
            <a:r>
              <a:rPr lang="ru-RU" sz="1400">
                <a:solidFill>
                  <a:srgbClr val="1C00CF"/>
                </a:solidFill>
                <a:latin typeface="Menlo"/>
              </a:rPr>
              <a:t>1024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* </a:t>
            </a:r>
            <a:r>
              <a:rPr lang="ru-RU" sz="1400">
                <a:solidFill>
                  <a:srgbClr val="1C00CF"/>
                </a:solidFill>
                <a:latin typeface="Menlo"/>
              </a:rPr>
              <a:t>1024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,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RAM: живёт пока запущено приложение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diskCapacity: </a:t>
            </a:r>
            <a:r>
              <a:rPr lang="ru-RU" sz="1400">
                <a:solidFill>
                  <a:srgbClr val="1C00CF"/>
                </a:solidFill>
                <a:latin typeface="Menlo"/>
              </a:rPr>
              <a:t>128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* </a:t>
            </a:r>
            <a:r>
              <a:rPr lang="ru-RU" sz="1400">
                <a:solidFill>
                  <a:srgbClr val="1C00CF"/>
                </a:solidFill>
                <a:latin typeface="Menlo"/>
              </a:rPr>
              <a:t>1024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* </a:t>
            </a:r>
            <a:r>
              <a:rPr lang="ru-RU" sz="1400">
                <a:solidFill>
                  <a:srgbClr val="1C00CF"/>
                </a:solidFill>
                <a:latin typeface="Menlo"/>
              </a:rPr>
              <a:t>1024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, 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диск: Library/Caches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diskPath: </a:t>
            </a:r>
            <a:r>
              <a:rPr lang="ru-RU" sz="1400">
                <a:solidFill>
                  <a:srgbClr val="C41A16"/>
                </a:solidFill>
                <a:latin typeface="Menlo"/>
              </a:rPr>
              <a:t>"api-cache"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)</a:t>
            </a:r>
          </a:p>
          <a:p>
            <a:pPr marL="0" indent="0">
              <a:buNone/>
            </a:pPr>
            <a:endParaRPr lang="ru-RU" sz="1400"/>
          </a:p>
          <a:p>
            <a:pPr marL="0" indent="0">
              <a:buNone/>
            </a:pP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config =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URLSessionConfiguration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.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default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config.urlCache = cache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config.requestCachePolicy = .useProtocolCachePolicy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4000"/>
              <a:t>Свежесть и валидация кэша</a:t>
            </a:r>
          </a:p>
        </p:txBody>
      </p:sp>
      <p:graphicFrame>
        <p:nvGraphicFramePr>
          <p:cNvPr id="11" name="Таблица"/>
          <p:cNvGraphicFramePr>
            <a:graphicFrameLocks noGrp="1"/>
          </p:cNvGraphicFramePr>
          <p:nvPr/>
        </p:nvGraphicFramePr>
        <p:xfrm>
          <a:off x="515938" y="1600000"/>
          <a:ext cx="11160000" cy="28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0000"/>
                <a:gridCol w="3720000"/>
                <a:gridCol w="3720000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Механизм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Заголовки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Смысл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Свежесть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Cache-Control: max-age=N · no-store · no-cache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max-age — ответ свежий N секунд, в сеть не ходим; no-store — не сохранять вообще; no-cache — отдавать только после перепроверки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Валидация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ETag ↔ If-None-Match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«отпечаток» версии ресурса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Валидация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Last-Modified ↔ If-Modified-Since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то же по дате — проще, но точность лишь 1 секунда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Ответ сервера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304 Not Modified / 200 + тело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«не менялось, бери из кэша» / новая версия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Дерево решений URLCache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Это стандарт HTTP (RFC 9110/9111), а не фишка URLSession — так же работают браузер, curl и</a:t>
            </a:r>
          </a:p>
          <a:p>
            <a:r>
              <a:rPr lang="ru-RU" sz="1800">
                <a:latin typeface="Arial"/>
              </a:rPr>
              <a:t>OkHttp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515938" y="2050000"/>
            <a:ext cx="3600000" cy="825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1500" b="1">
                <a:solidFill>
                  <a:srgbClr val="3B2C7F"/>
                </a:solidFill>
                <a:latin typeface="Arial"/>
              </a:rPr>
              <a:t>Есть ответ в кэше?</a:t>
            </a:r>
          </a:p>
        </p:txBody>
      </p:sp>
      <p:sp>
        <p:nvSpPr>
          <p:cNvPr id="13" name="Стрелка-ветка"/>
          <p:cNvSpPr/>
          <p:nvPr/>
        </p:nvSpPr>
        <p:spPr>
          <a:xfrm>
            <a:off x="4115938" y="2312500"/>
            <a:ext cx="760000" cy="300000"/>
          </a:xfrm>
          <a:prstGeom prst="rightArrow">
            <a:avLst/>
          </a:prstGeom>
          <a:solidFill>
            <a:srgbClr val="3B2C7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ru-RU" sz="1100" b="1">
                <a:solidFill>
                  <a:srgbClr val="FFFFFF"/>
                </a:solidFill>
                <a:latin typeface="Arial"/>
              </a:rPr>
              <a:t>нет</a:t>
            </a:r>
          </a:p>
        </p:txBody>
      </p:sp>
      <p:sp>
        <p:nvSpPr>
          <p:cNvPr id="14" name="Карточка"/>
          <p:cNvSpPr/>
          <p:nvPr/>
        </p:nvSpPr>
        <p:spPr>
          <a:xfrm>
            <a:off x="4875938" y="2050000"/>
            <a:ext cx="6800000" cy="825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1500" b="1">
                <a:solidFill>
                  <a:srgbClr val="3B2C7F"/>
                </a:solidFill>
                <a:latin typeface="Arial"/>
              </a:rPr>
              <a:t>Идём в сеть</a:t>
            </a:r>
          </a:p>
          <a:p>
            <a:pPr algn="l"/>
            <a:r>
              <a:rPr lang="ru-RU" sz="1300">
                <a:latin typeface="Arial"/>
              </a:rPr>
              <a:t>ответ сохраняем, если заголовки разрешают</a:t>
            </a:r>
          </a:p>
        </p:txBody>
      </p:sp>
      <p:sp>
        <p:nvSpPr>
          <p:cNvPr id="15" name="Стрелка-ветка"/>
          <p:cNvSpPr/>
          <p:nvPr/>
        </p:nvSpPr>
        <p:spPr>
          <a:xfrm>
            <a:off x="2195938" y="2905000"/>
            <a:ext cx="240000" cy="300000"/>
          </a:xfrm>
          <a:prstGeom prst="downArrow">
            <a:avLst/>
          </a:prstGeom>
          <a:solidFill>
            <a:srgbClr val="3B2C7F"/>
          </a:solidFill>
          <a:ln>
            <a:noFill/>
          </a:ln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16" name="Подпись ветки"/>
          <p:cNvSpPr txBox="1"/>
          <p:nvPr/>
        </p:nvSpPr>
        <p:spPr>
          <a:xfrm>
            <a:off x="2515938" y="2905000"/>
            <a:ext cx="800000" cy="30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ru-RU" sz="1200" b="1">
                <a:solidFill>
                  <a:srgbClr val="3B2C7F"/>
                </a:solidFill>
                <a:latin typeface="Arial"/>
              </a:rPr>
              <a:t>да</a:t>
            </a:r>
          </a:p>
        </p:txBody>
      </p:sp>
      <p:sp>
        <p:nvSpPr>
          <p:cNvPr id="17" name="Карточка"/>
          <p:cNvSpPr/>
          <p:nvPr/>
        </p:nvSpPr>
        <p:spPr>
          <a:xfrm>
            <a:off x="515938" y="3235000"/>
            <a:ext cx="3600000" cy="825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1500" b="1">
                <a:solidFill>
                  <a:srgbClr val="3B2C7F"/>
                </a:solidFill>
                <a:latin typeface="Arial"/>
              </a:rPr>
              <a:t>Ответ ещё свежий (max-age не истёк)?</a:t>
            </a:r>
          </a:p>
        </p:txBody>
      </p:sp>
      <p:sp>
        <p:nvSpPr>
          <p:cNvPr id="18" name="Стрелка-ветка"/>
          <p:cNvSpPr/>
          <p:nvPr/>
        </p:nvSpPr>
        <p:spPr>
          <a:xfrm>
            <a:off x="4115938" y="3497500"/>
            <a:ext cx="760000" cy="300000"/>
          </a:xfrm>
          <a:prstGeom prst="rightArrow">
            <a:avLst/>
          </a:prstGeom>
          <a:solidFill>
            <a:srgbClr val="3B2C7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ru-RU" sz="1100" b="1">
                <a:solidFill>
                  <a:srgbClr val="FFFFFF"/>
                </a:solidFill>
                <a:latin typeface="Arial"/>
              </a:rPr>
              <a:t>да</a:t>
            </a:r>
          </a:p>
        </p:txBody>
      </p:sp>
      <p:sp>
        <p:nvSpPr>
          <p:cNvPr id="19" name="Карточка"/>
          <p:cNvSpPr/>
          <p:nvPr/>
        </p:nvSpPr>
        <p:spPr>
          <a:xfrm>
            <a:off x="4875938" y="3235000"/>
            <a:ext cx="6800000" cy="825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1500" b="1">
                <a:solidFill>
                  <a:srgbClr val="3B2C7F"/>
                </a:solidFill>
                <a:latin typeface="Arial"/>
              </a:rPr>
              <a:t>Отдаём из кэша</a:t>
            </a:r>
          </a:p>
          <a:p>
            <a:pPr algn="l"/>
            <a:r>
              <a:rPr lang="ru-RU" sz="1300">
                <a:latin typeface="Arial"/>
              </a:rPr>
              <a:t>в сеть не ходим — ноль трафика</a:t>
            </a:r>
          </a:p>
        </p:txBody>
      </p:sp>
      <p:sp>
        <p:nvSpPr>
          <p:cNvPr id="20" name="Стрелка-ветка"/>
          <p:cNvSpPr/>
          <p:nvPr/>
        </p:nvSpPr>
        <p:spPr>
          <a:xfrm>
            <a:off x="2195938" y="4090000"/>
            <a:ext cx="240000" cy="300000"/>
          </a:xfrm>
          <a:prstGeom prst="downArrow">
            <a:avLst/>
          </a:prstGeom>
          <a:solidFill>
            <a:srgbClr val="3B2C7F"/>
          </a:solidFill>
          <a:ln>
            <a:noFill/>
          </a:ln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21" name="Подпись ветки"/>
          <p:cNvSpPr txBox="1"/>
          <p:nvPr/>
        </p:nvSpPr>
        <p:spPr>
          <a:xfrm>
            <a:off x="2515938" y="4090000"/>
            <a:ext cx="800000" cy="30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ru-RU" sz="1200" b="1">
                <a:solidFill>
                  <a:srgbClr val="3B2C7F"/>
                </a:solidFill>
                <a:latin typeface="Arial"/>
              </a:rPr>
              <a:t>нет</a:t>
            </a:r>
          </a:p>
        </p:txBody>
      </p:sp>
      <p:sp>
        <p:nvSpPr>
          <p:cNvPr id="22" name="Карточка"/>
          <p:cNvSpPr/>
          <p:nvPr/>
        </p:nvSpPr>
        <p:spPr>
          <a:xfrm>
            <a:off x="515938" y="4420000"/>
            <a:ext cx="3600000" cy="825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1500" b="1">
                <a:solidFill>
                  <a:srgbClr val="3B2C7F"/>
                </a:solidFill>
                <a:latin typeface="Arial"/>
              </a:rPr>
              <a:t>Есть ETag / Last-Modified?</a:t>
            </a:r>
          </a:p>
        </p:txBody>
      </p:sp>
      <p:sp>
        <p:nvSpPr>
          <p:cNvPr id="23" name="Стрелка-ветка"/>
          <p:cNvSpPr/>
          <p:nvPr/>
        </p:nvSpPr>
        <p:spPr>
          <a:xfrm>
            <a:off x="4115938" y="4682500"/>
            <a:ext cx="760000" cy="300000"/>
          </a:xfrm>
          <a:prstGeom prst="rightArrow">
            <a:avLst/>
          </a:prstGeom>
          <a:solidFill>
            <a:srgbClr val="3B2C7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ru-RU" sz="1100" b="1">
                <a:solidFill>
                  <a:srgbClr val="FFFFFF"/>
                </a:solidFill>
                <a:latin typeface="Arial"/>
              </a:rPr>
              <a:t>нет</a:t>
            </a:r>
          </a:p>
        </p:txBody>
      </p:sp>
      <p:sp>
        <p:nvSpPr>
          <p:cNvPr id="24" name="Карточка"/>
          <p:cNvSpPr/>
          <p:nvPr/>
        </p:nvSpPr>
        <p:spPr>
          <a:xfrm>
            <a:off x="4875938" y="4420000"/>
            <a:ext cx="6800000" cy="825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1500" b="1">
                <a:solidFill>
                  <a:srgbClr val="3B2C7F"/>
                </a:solidFill>
                <a:latin typeface="Arial"/>
              </a:rPr>
              <a:t>Полный запрос в сеть</a:t>
            </a:r>
          </a:p>
          <a:p>
            <a:pPr algn="l"/>
            <a:r>
              <a:rPr lang="ru-RU" sz="1300">
                <a:latin typeface="Arial"/>
              </a:rPr>
              <a:t>как будто кэша и не было</a:t>
            </a:r>
          </a:p>
        </p:txBody>
      </p:sp>
      <p:sp>
        <p:nvSpPr>
          <p:cNvPr id="25" name="Стрелка-ветка"/>
          <p:cNvSpPr/>
          <p:nvPr/>
        </p:nvSpPr>
        <p:spPr>
          <a:xfrm>
            <a:off x="2195938" y="5275000"/>
            <a:ext cx="240000" cy="300000"/>
          </a:xfrm>
          <a:prstGeom prst="downArrow">
            <a:avLst/>
          </a:prstGeom>
          <a:solidFill>
            <a:srgbClr val="3B2C7F"/>
          </a:solidFill>
          <a:ln>
            <a:noFill/>
          </a:ln>
        </p:spPr>
        <p:txBody>
          <a:bodyPr lIns="0" tIns="0" rIns="0" bIns="0" anchor="ctr"/>
          <a:lstStyle/>
          <a:p>
            <a:endParaRPr lang="ru-RU"/>
          </a:p>
        </p:txBody>
      </p:sp>
      <p:sp>
        <p:nvSpPr>
          <p:cNvPr id="26" name="Подпись ветки"/>
          <p:cNvSpPr txBox="1"/>
          <p:nvPr/>
        </p:nvSpPr>
        <p:spPr>
          <a:xfrm>
            <a:off x="2515938" y="5275000"/>
            <a:ext cx="800000" cy="300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r>
              <a:rPr lang="ru-RU" sz="1200" b="1">
                <a:solidFill>
                  <a:srgbClr val="3B2C7F"/>
                </a:solidFill>
                <a:latin typeface="Arial"/>
              </a:rPr>
              <a:t>да</a:t>
            </a:r>
          </a:p>
        </p:txBody>
      </p:sp>
      <p:sp>
        <p:nvSpPr>
          <p:cNvPr id="27" name="Карточка"/>
          <p:cNvSpPr/>
          <p:nvPr/>
        </p:nvSpPr>
        <p:spPr>
          <a:xfrm>
            <a:off x="515938" y="5605000"/>
            <a:ext cx="3600000" cy="825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1500" b="1">
                <a:solidFill>
                  <a:srgbClr val="3B2C7F"/>
                </a:solidFill>
                <a:latin typeface="Arial"/>
              </a:rPr>
              <a:t>Сервер ответил 304 Not Modified?</a:t>
            </a:r>
          </a:p>
        </p:txBody>
      </p:sp>
      <p:sp>
        <p:nvSpPr>
          <p:cNvPr id="28" name="Стрелка-ветка"/>
          <p:cNvSpPr/>
          <p:nvPr/>
        </p:nvSpPr>
        <p:spPr>
          <a:xfrm>
            <a:off x="4115938" y="5867500"/>
            <a:ext cx="760000" cy="300000"/>
          </a:xfrm>
          <a:prstGeom prst="rightArrow">
            <a:avLst/>
          </a:prstGeom>
          <a:solidFill>
            <a:srgbClr val="3B2C7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ru-RU" sz="1100" b="1">
                <a:solidFill>
                  <a:srgbClr val="FFFFFF"/>
                </a:solidFill>
                <a:latin typeface="Arial"/>
              </a:rPr>
              <a:t>да</a:t>
            </a:r>
          </a:p>
        </p:txBody>
      </p:sp>
      <p:sp>
        <p:nvSpPr>
          <p:cNvPr id="29" name="Карточка"/>
          <p:cNvSpPr/>
          <p:nvPr/>
        </p:nvSpPr>
        <p:spPr>
          <a:xfrm>
            <a:off x="4875938" y="5605000"/>
            <a:ext cx="3020000" cy="825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1500" b="1">
                <a:solidFill>
                  <a:srgbClr val="3B2C7F"/>
                </a:solidFill>
                <a:latin typeface="Arial"/>
              </a:rPr>
              <a:t>Тело берём из кэша</a:t>
            </a:r>
          </a:p>
          <a:p>
            <a:pPr algn="l"/>
            <a:r>
              <a:rPr lang="ru-RU" sz="1300">
                <a:latin typeface="Arial"/>
              </a:rPr>
              <a:t>скачали только заголовки</a:t>
            </a:r>
          </a:p>
        </p:txBody>
      </p:sp>
      <p:sp>
        <p:nvSpPr>
          <p:cNvPr id="30" name="Стрелка-ветка"/>
          <p:cNvSpPr/>
          <p:nvPr/>
        </p:nvSpPr>
        <p:spPr>
          <a:xfrm>
            <a:off x="7895938" y="5867500"/>
            <a:ext cx="760000" cy="300000"/>
          </a:xfrm>
          <a:prstGeom prst="rightArrow">
            <a:avLst/>
          </a:prstGeom>
          <a:solidFill>
            <a:srgbClr val="3B2C7F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ru-RU" sz="1100" b="1">
                <a:solidFill>
                  <a:srgbClr val="FFFFFF"/>
                </a:solidFill>
                <a:latin typeface="Arial"/>
              </a:rPr>
              <a:t>нет</a:t>
            </a:r>
          </a:p>
        </p:txBody>
      </p:sp>
      <p:sp>
        <p:nvSpPr>
          <p:cNvPr id="31" name="Карточка"/>
          <p:cNvSpPr/>
          <p:nvPr/>
        </p:nvSpPr>
        <p:spPr>
          <a:xfrm>
            <a:off x="8655938" y="5605000"/>
            <a:ext cx="3020000" cy="825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1500" b="1">
                <a:solidFill>
                  <a:srgbClr val="3B2C7F"/>
                </a:solidFill>
                <a:latin typeface="Arial"/>
              </a:rPr>
              <a:t>200 — новая версия</a:t>
            </a:r>
          </a:p>
          <a:p>
            <a:pPr algn="l"/>
            <a:r>
              <a:rPr lang="ru-RU" sz="1300">
                <a:latin typeface="Arial"/>
              </a:rPr>
              <a:t>обновляем тело в кэше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4000"/>
              <a:t>RequestCachePolicy — 4 политики</a:t>
            </a:r>
          </a:p>
        </p:txBody>
      </p:sp>
      <p:graphicFrame>
        <p:nvGraphicFramePr>
          <p:cNvPr id="11" name="Таблица"/>
          <p:cNvGraphicFramePr>
            <a:graphicFrameLocks noGrp="1"/>
          </p:cNvGraphicFramePr>
          <p:nvPr/>
        </p:nvGraphicFramePr>
        <p:xfrm>
          <a:off x="515938" y="1600000"/>
          <a:ext cx="11160000" cy="28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0000"/>
                <a:gridCol w="5580000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Политика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Поведение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.useProtocolCachePolicy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по HTTP-заголовкам сервера — наш дефолт, пока есть сеть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.reloadIgnoringLocalCacheData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всегда сеть, кэш игнорируется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.returnCacheDataElseLoad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сначала кэш, сеть — если пусто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.returnCacheDataDontLoad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только кэш, в сеть не ходить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4000"/>
              <a:t>Офлайн-фолбэк поверх URLCache</a:t>
            </a:r>
          </a:p>
        </p:txBody>
      </p:sp>
      <p:sp>
        <p:nvSpPr>
          <p:cNvPr id="11" name="Пояснения"/>
          <p:cNvSpPr txBox="1"/>
          <p:nvPr/>
        </p:nvSpPr>
        <p:spPr>
          <a:xfrm>
            <a:off x="515938" y="1500000"/>
            <a:ext cx="11160000" cy="147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pPr marL="285750" indent="-285750">
              <a:buFont typeface="Arial"/>
              <a:buChar char="•"/>
            </a:pPr>
            <a:r>
              <a:rPr lang="ru-RU" sz="1600">
                <a:latin typeface="Arial"/>
              </a:rPr>
              <a:t>Online: обычный запрос через session — dataSource = .network</a:t>
            </a:r>
          </a:p>
          <a:p>
            <a:pPr marL="285750" indent="-285750">
              <a:buFont typeface="Arial"/>
              <a:buChar char="•"/>
            </a:pPr>
            <a:r>
              <a:rPr lang="ru-RU" sz="1600">
                <a:latin typeface="Arial"/>
              </a:rPr>
              <a:t>Ошибка сети: достаём cachedResponse — dataSource = .offlineCache</a:t>
            </a:r>
          </a:p>
          <a:p>
            <a:pPr marL="285750" indent="-285750">
              <a:buFont typeface="Arial"/>
              <a:buChar char="•"/>
            </a:pPr>
            <a:r>
              <a:rPr lang="ru-RU" sz="1600">
                <a:latin typeface="Arial"/>
              </a:rPr>
              <a:t>«Данные от вчера» лучше белого экрана; источник данных показываем в UI через dataSource</a:t>
            </a:r>
          </a:p>
        </p:txBody>
      </p:sp>
      <p:sp>
        <p:nvSpPr>
          <p:cNvPr id="12" name="Подложка кода"/>
          <p:cNvSpPr/>
          <p:nvPr/>
        </p:nvSpPr>
        <p:spPr>
          <a:xfrm>
            <a:off x="515938" y="3061440"/>
            <a:ext cx="11160000" cy="2719070"/>
          </a:xfrm>
          <a:prstGeom prst="roundRect">
            <a:avLst>
              <a:gd name="adj" fmla="val 8000"/>
            </a:avLst>
          </a:prstGeom>
          <a:solidFill>
            <a:srgbClr val="D6DA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Код"/>
          <p:cNvSpPr txBox="1"/>
          <p:nvPr/>
        </p:nvSpPr>
        <p:spPr>
          <a:xfrm>
            <a:off x="653098" y="3198600"/>
            <a:ext cx="10885680" cy="244475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pPr marL="0" indent="0">
              <a:buNone/>
            </a:pPr>
            <a:r>
              <a:rPr lang="ru-RU" sz="1400" b="1">
                <a:solidFill>
                  <a:srgbClr val="AD3DA4"/>
                </a:solidFill>
                <a:latin typeface="Menlo"/>
              </a:rPr>
              <a:t>do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{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(data, response) =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try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await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session.data(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for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: request)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сеть + автокэш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return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Fetched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(value: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try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decode(data), dataSource: .network)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}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catch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{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офлайн: достаём последний ответ, даже если по HTTP он протух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if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cached = cache.cachedResponse(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for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: request),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value =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try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? decode(cached.data)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as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{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return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Fetched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(value: value, dataSource: .offlineCache)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}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throw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APIError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.transport(error)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А что с картинками?</a:t>
            </a:r>
          </a:p>
        </p:txBody>
      </p:sp>
      <p:sp>
        <p:nvSpPr>
          <p:cNvPr id="11" name="Карточка"/>
          <p:cNvSpPr/>
          <p:nvPr/>
        </p:nvSpPr>
        <p:spPr>
          <a:xfrm>
            <a:off x="515938" y="1620000"/>
            <a:ext cx="3567600" cy="393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Их много и они тяжёлые</a:t>
            </a:r>
          </a:p>
          <a:p>
            <a:pPr algn="l"/>
            <a:r>
              <a:rPr lang="ru-RU" sz="2400">
                <a:latin typeface="Arial"/>
              </a:rPr>
              <a:t>•  аватары, обложки</a:t>
            </a:r>
          </a:p>
          <a:p>
            <a:pPr algn="l"/>
            <a:r>
              <a:rPr lang="ru-RU" sz="2400">
                <a:latin typeface="Arial"/>
              </a:rPr>
              <a:t>•  QR/штрихкоды билетов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4312138" y="1620000"/>
            <a:ext cx="3567600" cy="393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Должны работать offline</a:t>
            </a:r>
          </a:p>
          <a:p>
            <a:pPr algn="l"/>
            <a:r>
              <a:rPr lang="ru-RU" sz="2400">
                <a:latin typeface="Arial"/>
              </a:rPr>
              <a:t>показываться мгновенно и без сети</a:t>
            </a:r>
          </a:p>
        </p:txBody>
      </p:sp>
      <p:sp>
        <p:nvSpPr>
          <p:cNvPr id="13" name="Карточка"/>
          <p:cNvSpPr/>
          <p:nvPr/>
        </p:nvSpPr>
        <p:spPr>
          <a:xfrm>
            <a:off x="8108338" y="1620000"/>
            <a:ext cx="3567600" cy="393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NSCache для RAM</a:t>
            </a:r>
          </a:p>
          <a:p>
            <a:pPr algn="l"/>
            <a:r>
              <a:rPr lang="ru-RU" sz="2400">
                <a:latin typeface="Arial"/>
              </a:rPr>
              <a:t>•  автоочистка под давлением памяти</a:t>
            </a:r>
          </a:p>
          <a:p>
            <a:pPr algn="l"/>
            <a:r>
              <a:rPr lang="ru-RU" sz="2400">
                <a:latin typeface="Arial"/>
              </a:rPr>
              <a:t>•  не Dictionary — руками не чистим</a:t>
            </a:r>
          </a:p>
        </p:txBody>
      </p:sp>
      <p:sp>
        <p:nvSpPr>
          <p:cNvPr id="14" name="Карточка"/>
          <p:cNvSpPr/>
          <p:nvPr/>
        </p:nvSpPr>
        <p:spPr>
          <a:xfrm>
            <a:off x="515938" y="5690000"/>
            <a:ext cx="11160000" cy="760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ctr"/>
            <a:r>
              <a:rPr lang="ru-RU" sz="1900">
                <a:latin typeface="Arial"/>
              </a:rPr>
              <a:t>NSCache — не Dictionary: ОС сама выкинет картинки, если приложению не хватает 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4000"/>
              <a:t>Подводный камень с редиректами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Код редиректа не видит: URLSession сама уходит на CDN, но URLCache сохраняет</a:t>
            </a:r>
          </a:p>
          <a:p>
            <a:r>
              <a:rPr lang="ru-RU" sz="1800">
                <a:latin typeface="Arial"/>
              </a:rPr>
              <a:t>ответ под финальным URL — а ищем мы по исходному → промах</a:t>
            </a:r>
          </a:p>
        </p:txBody>
      </p:sp>
      <p:graphicFrame>
        <p:nvGraphicFramePr>
          <p:cNvPr id="12" name="Таблица"/>
          <p:cNvGraphicFramePr>
            <a:graphicFrameLocks noGrp="1"/>
          </p:cNvGraphicFramePr>
          <p:nvPr/>
        </p:nvGraphicFramePr>
        <p:xfrm>
          <a:off x="515938" y="2011440"/>
          <a:ext cx="11160000" cy="28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8571"/>
                <a:gridCol w="3188571"/>
                <a:gridCol w="4782857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Шаг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URL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Что происходит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1. Запрос приложения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picsum seed URL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приложение знает только исходный адрес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2. Ответ сервиса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302 Found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сервис переносит на CDN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3. Финальный ответ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fastly CDN URL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JPEG сохраняется под финальным адресом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4. Повторный offline-поиск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picsum seed URL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промах: ключ другой → cache miss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4000"/>
              <a:t>Решение — файловый кэш картинок</a:t>
            </a:r>
          </a:p>
        </p:txBody>
      </p:sp>
      <p:sp>
        <p:nvSpPr>
          <p:cNvPr id="11" name="Карточка"/>
          <p:cNvSpPr/>
          <p:nvPr/>
        </p:nvSpPr>
        <p:spPr>
          <a:xfrm>
            <a:off x="515938" y="1620000"/>
            <a:ext cx="5465700" cy="185212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500" b="1">
                <a:solidFill>
                  <a:srgbClr val="3B2C7F"/>
                </a:solidFill>
                <a:latin typeface="Arial"/>
              </a:rPr>
              <a:t>L1 · NSCache</a:t>
            </a:r>
          </a:p>
          <a:p>
            <a:pPr algn="l"/>
            <a:r>
              <a:rPr lang="ru-RU" sz="2000">
                <a:latin typeface="Arial"/>
              </a:rPr>
              <a:t>•  RAM</a:t>
            </a:r>
          </a:p>
          <a:p>
            <a:pPr algn="l"/>
            <a:r>
              <a:rPr lang="ru-RU" sz="2000">
                <a:latin typeface="Arial"/>
              </a:rPr>
              <a:t>•  авто-эвикция под память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6210238" y="1620000"/>
            <a:ext cx="5465700" cy="185212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500" b="1">
                <a:solidFill>
                  <a:srgbClr val="3B2C7F"/>
                </a:solidFill>
                <a:latin typeface="Arial"/>
              </a:rPr>
              <a:t>L2 · Диск</a:t>
            </a:r>
          </a:p>
          <a:p>
            <a:pPr algn="l"/>
            <a:r>
              <a:rPr lang="ru-RU" sz="2000">
                <a:latin typeface="Arial"/>
              </a:rPr>
              <a:t>файловый кэш в Library/Caches</a:t>
            </a:r>
          </a:p>
        </p:txBody>
      </p:sp>
      <p:sp>
        <p:nvSpPr>
          <p:cNvPr id="13" name="Карточка"/>
          <p:cNvSpPr/>
          <p:nvPr/>
        </p:nvSpPr>
        <p:spPr>
          <a:xfrm>
            <a:off x="515938" y="3700720"/>
            <a:ext cx="5465700" cy="185212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500" b="1">
                <a:solidFill>
                  <a:srgbClr val="3B2C7F"/>
                </a:solidFill>
                <a:latin typeface="Arial"/>
              </a:rPr>
              <a:t>L3 · Сеть</a:t>
            </a:r>
          </a:p>
          <a:p>
            <a:pPr algn="l"/>
            <a:r>
              <a:rPr lang="ru-RU" sz="2000">
                <a:latin typeface="Arial"/>
              </a:rPr>
              <a:t>•  если промах в L1 и L2</a:t>
            </a:r>
          </a:p>
          <a:p>
            <a:pPr algn="l"/>
            <a:r>
              <a:rPr lang="ru-RU" sz="2000">
                <a:latin typeface="Arial"/>
              </a:rPr>
              <a:t>•  кладём в оба уровня</a:t>
            </a:r>
          </a:p>
        </p:txBody>
      </p:sp>
      <p:sp>
        <p:nvSpPr>
          <p:cNvPr id="14" name="Карточка"/>
          <p:cNvSpPr/>
          <p:nvPr/>
        </p:nvSpPr>
        <p:spPr>
          <a:xfrm>
            <a:off x="6210238" y="3700720"/>
            <a:ext cx="5465700" cy="185212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500" b="1">
                <a:solidFill>
                  <a:srgbClr val="3B2C7F"/>
                </a:solidFill>
                <a:latin typeface="Arial"/>
              </a:rPr>
              <a:t>Ключ файла</a:t>
            </a:r>
          </a:p>
          <a:p>
            <a:pPr algn="l"/>
            <a:r>
              <a:rPr lang="ru-RU" sz="2000">
                <a:latin typeface="Arial"/>
              </a:rPr>
              <a:t>•  SHA256(исходного URL)</a:t>
            </a:r>
          </a:p>
          <a:p>
            <a:pPr algn="l"/>
            <a:r>
              <a:rPr lang="ru-RU" sz="2000">
                <a:latin typeface="Arial"/>
              </a:rPr>
              <a:t>•  ищем по адресу, который знает приложение, — редирект больше не ломает поиск</a:t>
            </a:r>
          </a:p>
        </p:txBody>
      </p:sp>
      <p:sp>
        <p:nvSpPr>
          <p:cNvPr id="15" name="Карточка"/>
          <p:cNvSpPr/>
          <p:nvPr/>
        </p:nvSpPr>
        <p:spPr>
          <a:xfrm>
            <a:off x="515938" y="5690000"/>
            <a:ext cx="11160000" cy="760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ctr"/>
            <a:r>
              <a:rPr lang="ru-RU" sz="2200">
                <a:latin typeface="Arial"/>
              </a:rPr>
              <a:t>clearCache() чистит RAM и Library/Caches разом — понадобится при логауте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4000"/>
              <a:t>ImageLoader — три уровня кэша</a:t>
            </a:r>
          </a:p>
        </p:txBody>
      </p:sp>
      <p:sp>
        <p:nvSpPr>
          <p:cNvPr id="11" name="Подложка кода"/>
          <p:cNvSpPr/>
          <p:nvPr/>
        </p:nvSpPr>
        <p:spPr>
          <a:xfrm>
            <a:off x="515938" y="1500000"/>
            <a:ext cx="11160000" cy="3830320"/>
          </a:xfrm>
          <a:prstGeom prst="roundRect">
            <a:avLst>
              <a:gd name="adj" fmla="val 8000"/>
            </a:avLst>
          </a:prstGeom>
          <a:solidFill>
            <a:srgbClr val="D6DA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" name="Код"/>
          <p:cNvSpPr txBox="1"/>
          <p:nvPr/>
        </p:nvSpPr>
        <p:spPr>
          <a:xfrm>
            <a:off x="653098" y="1637160"/>
            <a:ext cx="10885680" cy="3556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pPr marL="0" indent="0">
              <a:buNone/>
            </a:pPr>
            <a:r>
              <a:rPr lang="ru-RU" sz="1400" b="1">
                <a:solidFill>
                  <a:srgbClr val="AD3DA4"/>
                </a:solidFill>
                <a:latin typeface="Menlo"/>
              </a:rPr>
              <a:t>final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class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ImageLoader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{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private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memory =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NSCache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&lt;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NSURL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,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UIImage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&gt;()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L1: RAM, авто-эвикция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diskCacheURL: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URL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                        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L2: Library/Caches</a:t>
            </a:r>
          </a:p>
          <a:p>
            <a:pPr marL="0" indent="0">
              <a:buNone/>
            </a:pPr>
            <a:endParaRPr lang="ru-RU" sz="1400"/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func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image(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for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url: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URL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)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async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throws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-&gt;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UIImage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{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if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hit = memory.object(forKey: url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as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NSURL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) {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return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hit }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L1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if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image = loadFromDisk(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for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: url) {                        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L2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    memory.setObject(image, forKey: url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as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NSURL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);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return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image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}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(data, _) =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try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await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session.data(from: url)              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L3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image =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UIImage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(data: data)!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saveToDisk(data,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for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: url)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ключ файла = SHA256(исходного URL)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memory.setObject(image, forKey: url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as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NSURL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)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return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image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}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3200"/>
              <a:t>CacheManager: три механизма инвалидации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commit 3 · как не показать протухшее и не допустить утечки чужих данных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515938" y="2050000"/>
            <a:ext cx="3567600" cy="350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TTL</a:t>
            </a:r>
          </a:p>
          <a:p>
            <a:pPr algn="l"/>
            <a:r>
              <a:rPr lang="ru-RU" sz="2400">
                <a:latin typeface="Arial"/>
              </a:rPr>
              <a:t>•  срок жизни записи задаёт приложение</a:t>
            </a:r>
          </a:p>
          <a:p>
            <a:pPr algn="l"/>
            <a:r>
              <a:rPr lang="ru-RU" sz="2400">
                <a:latin typeface="Arial"/>
              </a:rPr>
              <a:t>•  своя проверка актуальности поверх HTTP (в URLCache срок диктует сервер)</a:t>
            </a:r>
          </a:p>
        </p:txBody>
      </p:sp>
      <p:sp>
        <p:nvSpPr>
          <p:cNvPr id="13" name="Карточка"/>
          <p:cNvSpPr/>
          <p:nvPr/>
        </p:nvSpPr>
        <p:spPr>
          <a:xfrm>
            <a:off x="4312138" y="2050000"/>
            <a:ext cx="3567600" cy="350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Версия схемы</a:t>
            </a:r>
          </a:p>
          <a:p>
            <a:pPr algn="l"/>
            <a:r>
              <a:rPr lang="ru-RU" sz="2400">
                <a:latin typeface="Arial"/>
              </a:rPr>
              <a:t>•  константа cacheSchemaVersion</a:t>
            </a:r>
          </a:p>
          <a:p>
            <a:pPr algn="l"/>
            <a:r>
              <a:rPr lang="ru-RU" sz="2400">
                <a:latin typeface="Arial"/>
              </a:rPr>
              <a:t>•  сменили формат модели → старый кэш сброшен на старте</a:t>
            </a:r>
          </a:p>
        </p:txBody>
      </p:sp>
      <p:sp>
        <p:nvSpPr>
          <p:cNvPr id="14" name="Карточка"/>
          <p:cNvSpPr/>
          <p:nvPr/>
        </p:nvSpPr>
        <p:spPr>
          <a:xfrm>
            <a:off x="8108338" y="2050000"/>
            <a:ext cx="3567600" cy="350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Очистка по событию</a:t>
            </a:r>
          </a:p>
          <a:p>
            <a:pPr algn="l"/>
            <a:r>
              <a:rPr lang="ru-RU" sz="2400">
                <a:latin typeface="Arial"/>
              </a:rPr>
              <a:t>логаут / смена пользователя</a:t>
            </a:r>
          </a:p>
        </p:txBody>
      </p:sp>
      <p:sp>
        <p:nvSpPr>
          <p:cNvPr id="15" name="Карточка"/>
          <p:cNvSpPr/>
          <p:nvPr/>
        </p:nvSpPr>
        <p:spPr>
          <a:xfrm>
            <a:off x="515938" y="5690000"/>
            <a:ext cx="11160000" cy="760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ctr"/>
            <a:r>
              <a:rPr lang="ru-RU" sz="1800">
                <a:latin typeface="Arial"/>
              </a:rPr>
              <a:t>cache-then-network: кэш мгновенно, свежее — фоном; честно сообщаем актуальность данных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Очистка при логауте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Единая точка очистки: один clearAll() — HTTP-ответы, TTL-метаданные, картинки</a:t>
            </a:r>
          </a:p>
          <a:p>
            <a:r>
              <a:rPr lang="ru-RU" sz="1800">
                <a:latin typeface="Arial"/>
              </a:rPr>
              <a:t>RAM+диск</a:t>
            </a:r>
          </a:p>
        </p:txBody>
      </p:sp>
      <p:graphicFrame>
        <p:nvGraphicFramePr>
          <p:cNvPr id="12" name="Таблица"/>
          <p:cNvGraphicFramePr>
            <a:graphicFrameLocks noGrp="1"/>
          </p:cNvGraphicFramePr>
          <p:nvPr/>
        </p:nvGraphicFramePr>
        <p:xfrm>
          <a:off x="515938" y="2011440"/>
          <a:ext cx="11160000" cy="22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0000"/>
                <a:gridCol w="3720000"/>
                <a:gridCol w="3720000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Событие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Риск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Что чистим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login A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лента/картинки A кэшируются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—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logout A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чужие данные могут остаться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clearAll() чистит все слои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login B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B не должен видеть данные A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стартует с чистого кэша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Итог блока 1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Кэш без стратегии инвалидации — это не оптимизация, а отложенный баг или утечка</a:t>
            </a:r>
          </a:p>
        </p:txBody>
      </p:sp>
      <p:graphicFrame>
        <p:nvGraphicFramePr>
          <p:cNvPr id="12" name="Таблица"/>
          <p:cNvGraphicFramePr>
            <a:graphicFrameLocks noGrp="1"/>
          </p:cNvGraphicFramePr>
          <p:nvPr/>
        </p:nvGraphicFramePr>
        <p:xfrm>
          <a:off x="515938" y="2011440"/>
          <a:ext cx="11160000" cy="22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0000"/>
                <a:gridCol w="5580000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Механизм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Закрывает риск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TTL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протухшие данные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Версия схемы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несовместимый формат после обновления из App Store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Очистка по событию (логаут)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чужие данные у пользователя B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FA650734-CCE5-E146-8C98-C863D4DEA5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ru-RU"/>
              <a:t>Offline-first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ru-RU"/>
              <a:t>03</a:t>
            </a:r>
          </a:p>
        </p:txBody>
      </p:sp>
      <p:pic>
        <p:nvPicPr>
          <p:cNvPr id="100" name="Картинка лектора 1"/>
          <p:cNvPicPr>
            <a:picLocks noChangeAspect="1"/>
          </p:cNvPicPr>
          <p:nvPr/>
        </p:nvPicPr>
        <p:blipFill>
          <a:blip r:embed="rId3"/>
          <a:srcRect l="-47156" r="-25198"/>
          <a:stretch/>
        </p:blipFill>
        <p:spPr>
          <a:xfrm>
            <a:off x="6096000" y="2708276"/>
            <a:ext cx="5616575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Кэш vs источник правды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commit 4</a:t>
            </a:r>
          </a:p>
        </p:txBody>
      </p:sp>
      <p:graphicFrame>
        <p:nvGraphicFramePr>
          <p:cNvPr id="12" name="Таблица"/>
          <p:cNvGraphicFramePr>
            <a:graphicFrameLocks noGrp="1"/>
          </p:cNvGraphicFramePr>
          <p:nvPr/>
        </p:nvGraphicFramePr>
        <p:xfrm>
          <a:off x="515938" y="2011440"/>
          <a:ext cx="11160000" cy="34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0000"/>
                <a:gridCol w="3720000"/>
                <a:gridCol w="3720000"/>
              </a:tblGrid>
              <a:tr h="430000">
                <a:tc>
                  <a:txBody>
                    <a:bodyPr/>
                    <a:lstStyle/>
                    <a:p>
                      <a:pPr algn="l"/>
                      <a:endParaRPr lang="ru-RU" sz="1600"/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Кэш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Источник правды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Роль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фолбэк «если сеть упала»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первоисточник, читается всегда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Природа данных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производные — можно потерять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данные пользователя — терять нельзя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Папка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Library/Caches — ОС может удалить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Application Support — ОС не трогает, бэкапится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Первый экран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сеть; кэш при ошибке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диск — сразу, без ожидания сети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Обновление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следующий запрос в сеть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сеть обновляет фоном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Папки песочницы</a:t>
            </a:r>
          </a:p>
        </p:txBody>
      </p:sp>
      <p:graphicFrame>
        <p:nvGraphicFramePr>
          <p:cNvPr id="11" name="Таблица"/>
          <p:cNvGraphicFramePr>
            <a:graphicFrameLocks noGrp="1"/>
          </p:cNvGraphicFramePr>
          <p:nvPr/>
        </p:nvGraphicFramePr>
        <p:xfrm>
          <a:off x="515938" y="1600000"/>
          <a:ext cx="11160000" cy="28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0000"/>
                <a:gridCol w="2790000"/>
                <a:gridCol w="2790000"/>
                <a:gridCol w="2790000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Папка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Назначение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ОС удаляет?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В бэкапе?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Documents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пользовательские файлы, видны в Finder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да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Application Support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данные приложения — билет здесь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да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Library/Caches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URLCache, картинки — можно перекачать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да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tmp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временные файлы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да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4000"/>
              <a:t>LocalStore: Codable + JSON-файл</a:t>
            </a:r>
          </a:p>
        </p:txBody>
      </p:sp>
      <p:sp>
        <p:nvSpPr>
          <p:cNvPr id="11" name="Пояснения"/>
          <p:cNvSpPr txBox="1"/>
          <p:nvPr/>
        </p:nvSpPr>
        <p:spPr>
          <a:xfrm>
            <a:off x="515938" y="1500000"/>
            <a:ext cx="11160000" cy="147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pPr marL="285750" indent="-285750">
              <a:buFont typeface="Arial"/>
              <a:buChar char="•"/>
            </a:pPr>
            <a:r>
              <a:rPr lang="ru-RU" sz="1600">
                <a:latin typeface="Arial"/>
              </a:rPr>
              <a:t>Правило: можно перекачать из сети → Caches; нельзя потерять → Application Support / Documents</a:t>
            </a:r>
          </a:p>
          <a:p>
            <a:pPr marL="285750" indent="-285750">
              <a:buFont typeface="Arial"/>
              <a:buChar char="•"/>
            </a:pPr>
            <a:r>
              <a:rPr lang="ru-RU" sz="1600">
                <a:latin typeface="Arial"/>
              </a:rPr>
              <a:t>Один билет → простой generic-стор: Codable + JSON-файл; много данных → SQLite / Core Data / SwiftData</a:t>
            </a:r>
          </a:p>
        </p:txBody>
      </p:sp>
      <p:sp>
        <p:nvSpPr>
          <p:cNvPr id="12" name="Подложка кода"/>
          <p:cNvSpPr/>
          <p:nvPr/>
        </p:nvSpPr>
        <p:spPr>
          <a:xfrm>
            <a:off x="515938" y="3061440"/>
            <a:ext cx="11160000" cy="2719070"/>
          </a:xfrm>
          <a:prstGeom prst="roundRect">
            <a:avLst>
              <a:gd name="adj" fmla="val 8000"/>
            </a:avLst>
          </a:prstGeom>
          <a:solidFill>
            <a:srgbClr val="D6DA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Код"/>
          <p:cNvSpPr txBox="1"/>
          <p:nvPr/>
        </p:nvSpPr>
        <p:spPr>
          <a:xfrm>
            <a:off x="653098" y="3198600"/>
            <a:ext cx="10885680" cy="244475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pPr marL="0" indent="0">
              <a:buNone/>
            </a:pPr>
            <a:r>
              <a:rPr lang="ru-RU" sz="1400" b="1">
                <a:solidFill>
                  <a:srgbClr val="AD3DA4"/>
                </a:solidFill>
                <a:latin typeface="Menlo"/>
              </a:rPr>
              <a:t>final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class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LocalStore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{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Codable + файлы в Application Support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func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save&lt;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: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Encodable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&gt;(_ value: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, forKey key: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String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) {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guard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data =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try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?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JSONEncoder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().encode(value)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else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{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return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}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try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? data.write(to: fileURL(key), options: .atomic)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}</a:t>
            </a:r>
          </a:p>
          <a:p>
            <a:pPr marL="0" indent="0">
              <a:buNone/>
            </a:pPr>
            <a:endParaRPr lang="ru-RU" sz="1400"/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func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load&lt;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: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Decodable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&gt;(forKey key: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String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) -&gt;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? {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guard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data =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try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?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Data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(contentsOf: fileURL(key))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else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{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return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nil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}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return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try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?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JSONDecoder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().decode(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.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self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, from: data)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}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Local-first поток билета</a:t>
            </a:r>
          </a:p>
        </p:txBody>
      </p:sp>
      <p:sp>
        <p:nvSpPr>
          <p:cNvPr id="11" name="Карточка"/>
          <p:cNvSpPr/>
          <p:nvPr/>
        </p:nvSpPr>
        <p:spPr>
          <a:xfrm>
            <a:off x="515938" y="2326420"/>
            <a:ext cx="1944000" cy="2600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2300" b="1">
                <a:solidFill>
                  <a:srgbClr val="3B2C7F"/>
                </a:solidFill>
                <a:latin typeface="Arial"/>
              </a:rPr>
              <a:t>loadLocal</a:t>
            </a:r>
          </a:p>
          <a:p>
            <a:pPr algn="l"/>
            <a:r>
              <a:rPr lang="ru-RU" sz="2000">
                <a:latin typeface="Arial"/>
              </a:rPr>
              <a:t>билет с диска — мгновенно, в авиарежиме</a:t>
            </a:r>
          </a:p>
        </p:txBody>
      </p:sp>
      <p:sp>
        <p:nvSpPr>
          <p:cNvPr id="12" name="Стрелка"/>
          <p:cNvSpPr/>
          <p:nvPr/>
        </p:nvSpPr>
        <p:spPr>
          <a:xfrm>
            <a:off x="2503138" y="3506420"/>
            <a:ext cx="273600" cy="240000"/>
          </a:xfrm>
          <a:prstGeom prst="rightArrow">
            <a:avLst/>
          </a:prstGeom>
          <a:solidFill>
            <a:srgbClr val="3B2C7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Карточка"/>
          <p:cNvSpPr/>
          <p:nvPr/>
        </p:nvSpPr>
        <p:spPr>
          <a:xfrm>
            <a:off x="2819938" y="2326420"/>
            <a:ext cx="1944000" cy="2600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2300" b="1">
                <a:solidFill>
                  <a:srgbClr val="3B2C7F"/>
                </a:solidFill>
                <a:latin typeface="Arial"/>
              </a:rPr>
              <a:t>Показать билет</a:t>
            </a:r>
          </a:p>
          <a:p>
            <a:pPr algn="l"/>
            <a:r>
              <a:rPr lang="ru-RU" sz="2000">
                <a:latin typeface="Arial"/>
              </a:rPr>
              <a:t>QR сразу на экране</a:t>
            </a:r>
          </a:p>
        </p:txBody>
      </p:sp>
      <p:sp>
        <p:nvSpPr>
          <p:cNvPr id="14" name="Стрелка"/>
          <p:cNvSpPr/>
          <p:nvPr/>
        </p:nvSpPr>
        <p:spPr>
          <a:xfrm>
            <a:off x="4807138" y="3506420"/>
            <a:ext cx="273600" cy="240000"/>
          </a:xfrm>
          <a:prstGeom prst="rightArrow">
            <a:avLst/>
          </a:prstGeom>
          <a:solidFill>
            <a:srgbClr val="3B2C7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5" name="Карточка"/>
          <p:cNvSpPr/>
          <p:nvPr/>
        </p:nvSpPr>
        <p:spPr>
          <a:xfrm>
            <a:off x="5123938" y="2326420"/>
            <a:ext cx="1944000" cy="2600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2300" b="1">
                <a:solidFill>
                  <a:srgbClr val="3B2C7F"/>
                </a:solidFill>
                <a:latin typeface="Arial"/>
              </a:rPr>
              <a:t>Обновить из сети</a:t>
            </a:r>
          </a:p>
          <a:p>
            <a:pPr algn="l"/>
            <a:r>
              <a:rPr lang="ru-RU" sz="2000">
                <a:latin typeface="Arial"/>
              </a:rPr>
              <a:t>фоном, не блокируя UI</a:t>
            </a:r>
          </a:p>
        </p:txBody>
      </p:sp>
      <p:sp>
        <p:nvSpPr>
          <p:cNvPr id="16" name="Стрелка"/>
          <p:cNvSpPr/>
          <p:nvPr/>
        </p:nvSpPr>
        <p:spPr>
          <a:xfrm>
            <a:off x="7111138" y="3506420"/>
            <a:ext cx="273600" cy="240000"/>
          </a:xfrm>
          <a:prstGeom prst="rightArrow">
            <a:avLst/>
          </a:prstGeom>
          <a:solidFill>
            <a:srgbClr val="3B2C7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7" name="Карточка"/>
          <p:cNvSpPr/>
          <p:nvPr/>
        </p:nvSpPr>
        <p:spPr>
          <a:xfrm>
            <a:off x="7427938" y="2326420"/>
            <a:ext cx="1944000" cy="2600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2300" b="1">
                <a:solidFill>
                  <a:srgbClr val="3B2C7F"/>
                </a:solidFill>
                <a:latin typeface="Arial"/>
              </a:rPr>
              <a:t>Обновить LocalStore</a:t>
            </a:r>
          </a:p>
          <a:p>
            <a:pPr algn="l"/>
            <a:r>
              <a:rPr lang="ru-RU" sz="2000">
                <a:latin typeface="Arial"/>
              </a:rPr>
              <a:t>источник правды остаётся свежим</a:t>
            </a:r>
          </a:p>
        </p:txBody>
      </p:sp>
      <p:sp>
        <p:nvSpPr>
          <p:cNvPr id="18" name="Стрелка"/>
          <p:cNvSpPr/>
          <p:nvPr/>
        </p:nvSpPr>
        <p:spPr>
          <a:xfrm>
            <a:off x="9415138" y="3506420"/>
            <a:ext cx="273600" cy="240000"/>
          </a:xfrm>
          <a:prstGeom prst="rightArrow">
            <a:avLst/>
          </a:prstGeom>
          <a:solidFill>
            <a:srgbClr val="3B2C7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9" name="Карточка"/>
          <p:cNvSpPr/>
          <p:nvPr/>
        </p:nvSpPr>
        <p:spPr>
          <a:xfrm>
            <a:off x="9731938" y="2326420"/>
            <a:ext cx="1944000" cy="2600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2300" b="1">
                <a:solidFill>
                  <a:srgbClr val="3B2C7F"/>
                </a:solidFill>
                <a:latin typeface="Arial"/>
              </a:rPr>
              <a:t>Честный статус</a:t>
            </a:r>
          </a:p>
          <a:p>
            <a:pPr algn="l"/>
            <a:r>
              <a:rPr lang="ru-RU" sz="2000">
                <a:latin typeface="Arial"/>
              </a:rPr>
              <a:t>актуально / обновляем / офлайн</a:t>
            </a:r>
          </a:p>
        </p:txBody>
      </p:sp>
      <p:sp>
        <p:nvSpPr>
          <p:cNvPr id="20" name="Карточка"/>
          <p:cNvSpPr/>
          <p:nvPr/>
        </p:nvSpPr>
        <p:spPr>
          <a:xfrm>
            <a:off x="515938" y="5670000"/>
            <a:ext cx="11160000" cy="760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ctr"/>
            <a:r>
              <a:rPr lang="ru-RU" sz="1800">
                <a:latin typeface="Arial"/>
              </a:rPr>
              <a:t>Экран ошибки — только при первом запуске без локальной копии; иначе билет показывается всегда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TicketRepository</a:t>
            </a:r>
          </a:p>
        </p:txBody>
      </p:sp>
      <p:sp>
        <p:nvSpPr>
          <p:cNvPr id="11" name="Подложка кода"/>
          <p:cNvSpPr/>
          <p:nvPr/>
        </p:nvSpPr>
        <p:spPr>
          <a:xfrm>
            <a:off x="515938" y="1500000"/>
            <a:ext cx="11160000" cy="3608070"/>
          </a:xfrm>
          <a:prstGeom prst="roundRect">
            <a:avLst>
              <a:gd name="adj" fmla="val 8000"/>
            </a:avLst>
          </a:prstGeom>
          <a:solidFill>
            <a:srgbClr val="D6DA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" name="Код"/>
          <p:cNvSpPr txBox="1"/>
          <p:nvPr/>
        </p:nvSpPr>
        <p:spPr>
          <a:xfrm>
            <a:off x="653098" y="1637160"/>
            <a:ext cx="10885680" cy="333375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pPr marL="0" indent="0">
              <a:buNone/>
            </a:pPr>
            <a:r>
              <a:rPr lang="ru-RU" sz="1400" b="1">
                <a:solidFill>
                  <a:srgbClr val="AD3DA4"/>
                </a:solidFill>
                <a:latin typeface="Menlo"/>
              </a:rPr>
              <a:t>final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class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TicketRepository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{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мгновенно с диска — работает в авиарежиме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func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loadLocal() -&gt;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Ticket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? { store.load(forKey: ticketKey) }</a:t>
            </a:r>
          </a:p>
          <a:p>
            <a:pPr marL="0" indent="0">
              <a:buNone/>
            </a:pPr>
            <a:endParaRPr lang="ru-RU" sz="1400"/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в фоне обновляем ИСТОЧНИК ПРАВДЫ, не блокируя UI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func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refreshFromNetwork()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async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throws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-&gt;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Ticket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{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result: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Fetched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&lt;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RemoteUser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&gt; =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try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await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client.get(.user(id: </a:t>
            </a:r>
            <a:r>
              <a:rPr lang="ru-RU" sz="1400">
                <a:solidFill>
                  <a:srgbClr val="1C00CF"/>
                </a:solidFill>
                <a:latin typeface="Menlo"/>
              </a:rPr>
              <a:t>1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))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ticket =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Ticket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(user: result.value)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store.save(ticket, forKey: ticketKey)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return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ticket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}</a:t>
            </a:r>
          </a:p>
          <a:p>
            <a:pPr marL="0" indent="0">
              <a:buNone/>
            </a:pPr>
            <a:endParaRPr lang="ru-RU" sz="1400"/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при логауте персональные данные не остаются на устройстве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func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clearLocal() { store.remove(forKey: ticketKey) }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3200"/>
              <a:t>QR строится из локального payload</a:t>
            </a:r>
          </a:p>
        </p:txBody>
      </p:sp>
      <p:sp>
        <p:nvSpPr>
          <p:cNvPr id="11" name="Карточка"/>
          <p:cNvSpPr/>
          <p:nvPr/>
        </p:nvSpPr>
        <p:spPr>
          <a:xfrm>
            <a:off x="515938" y="1620000"/>
            <a:ext cx="11160000" cy="1150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ctr"/>
            <a:r>
              <a:rPr lang="ru-RU" sz="2400">
                <a:latin typeface="Arial"/>
              </a:rPr>
              <a:t>QR рисуется из локально сохранённого payload, а не из живого ответа сервера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515938" y="2975740"/>
            <a:ext cx="3567600" cy="347426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Работает полностью offline</a:t>
            </a:r>
          </a:p>
          <a:p>
            <a:pPr algn="l"/>
            <a:r>
              <a:rPr lang="ru-RU" sz="2400">
                <a:latin typeface="Arial"/>
              </a:rPr>
              <a:t>посадку можно пройти без сети</a:t>
            </a:r>
          </a:p>
        </p:txBody>
      </p:sp>
      <p:sp>
        <p:nvSpPr>
          <p:cNvPr id="13" name="Карточка"/>
          <p:cNvSpPr/>
          <p:nvPr/>
        </p:nvSpPr>
        <p:spPr>
          <a:xfrm>
            <a:off x="4312138" y="2975740"/>
            <a:ext cx="3567600" cy="347426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Сеть — только для свежести</a:t>
            </a:r>
          </a:p>
          <a:p>
            <a:pPr algn="l"/>
            <a:r>
              <a:rPr lang="ru-RU" sz="2400">
                <a:latin typeface="Arial"/>
              </a:rPr>
              <a:t>держит локальную копию актуальной</a:t>
            </a:r>
          </a:p>
        </p:txBody>
      </p:sp>
      <p:sp>
        <p:nvSpPr>
          <p:cNvPr id="14" name="Карточка"/>
          <p:cNvSpPr/>
          <p:nvPr/>
        </p:nvSpPr>
        <p:spPr>
          <a:xfrm>
            <a:off x="8108338" y="2975740"/>
            <a:ext cx="3567600" cy="347426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2900" b="1">
                <a:solidFill>
                  <a:srgbClr val="3B2C7F"/>
                </a:solidFill>
                <a:latin typeface="Arial"/>
              </a:rPr>
              <a:t>Почему не URLCache</a:t>
            </a:r>
          </a:p>
          <a:p>
            <a:pPr algn="l"/>
            <a:r>
              <a:rPr lang="ru-RU" sz="2300">
                <a:latin typeface="Arial"/>
              </a:rPr>
              <a:t>раньше билет жил в памяти ViewModel и «случайно» брался из URLCache — а его ОС может вычистить в любой момент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4000"/>
              <a:t>Итог: кэш vs источник правды</a:t>
            </a:r>
          </a:p>
        </p:txBody>
      </p:sp>
      <p:sp>
        <p:nvSpPr>
          <p:cNvPr id="11" name="Карточка"/>
          <p:cNvSpPr/>
          <p:nvPr/>
        </p:nvSpPr>
        <p:spPr>
          <a:xfrm>
            <a:off x="515938" y="1720000"/>
            <a:ext cx="5442840" cy="377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Кэш</a:t>
            </a:r>
          </a:p>
          <a:p>
            <a:pPr algn="l"/>
            <a:r>
              <a:rPr lang="ru-RU" sz="2400">
                <a:latin typeface="Arial"/>
              </a:rPr>
              <a:t>•  отвечает: что показать, если сеть упала</a:t>
            </a:r>
          </a:p>
          <a:p>
            <a:pPr algn="l"/>
            <a:r>
              <a:rPr lang="ru-RU" sz="2400">
                <a:latin typeface="Arial"/>
              </a:rPr>
              <a:t>•  производное — можно потерять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6233098" y="1720000"/>
            <a:ext cx="5442840" cy="377284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Источник правды</a:t>
            </a:r>
          </a:p>
          <a:p>
            <a:pPr algn="l"/>
            <a:r>
              <a:rPr lang="ru-RU" sz="2400">
                <a:latin typeface="Arial"/>
              </a:rPr>
              <a:t>•  данные всегда здесь, локально; сеть — лишь механизм обновления</a:t>
            </a:r>
          </a:p>
          <a:p>
            <a:pPr algn="l"/>
            <a:r>
              <a:rPr lang="ru-RU" sz="2400">
                <a:latin typeface="Arial"/>
              </a:rPr>
              <a:t>•  билет, баланс, черновики → Application Support</a:t>
            </a:r>
          </a:p>
        </p:txBody>
      </p:sp>
      <p:sp>
        <p:nvSpPr>
          <p:cNvPr id="13" name="Карточка"/>
          <p:cNvSpPr/>
          <p:nvPr/>
        </p:nvSpPr>
        <p:spPr>
          <a:xfrm>
            <a:off x="515938" y="5630000"/>
            <a:ext cx="11160000" cy="800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ctr"/>
            <a:r>
              <a:rPr lang="ru-RU" sz="1900">
                <a:latin typeface="Arial"/>
              </a:rPr>
              <a:t>Для билета, баланса, черновиков — только источник правды, и в Application Support, а не в Caches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Outbox — идея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commit 5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515938" y="2491420"/>
            <a:ext cx="2520000" cy="2600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2600" b="1">
                <a:solidFill>
                  <a:srgbClr val="3B2C7F"/>
                </a:solidFill>
                <a:latin typeface="Arial"/>
              </a:rPr>
              <a:t>Действие offline</a:t>
            </a:r>
          </a:p>
          <a:p>
            <a:pPr algn="l"/>
            <a:r>
              <a:rPr lang="ru-RU" sz="2300">
                <a:latin typeface="Arial"/>
              </a:rPr>
              <a:t>лайк / отметка / форма без немедленного запроса</a:t>
            </a:r>
          </a:p>
        </p:txBody>
      </p:sp>
      <p:sp>
        <p:nvSpPr>
          <p:cNvPr id="13" name="Стрелка"/>
          <p:cNvSpPr/>
          <p:nvPr/>
        </p:nvSpPr>
        <p:spPr>
          <a:xfrm>
            <a:off x="3079138" y="3671420"/>
            <a:ext cx="273600" cy="240000"/>
          </a:xfrm>
          <a:prstGeom prst="rightArrow">
            <a:avLst/>
          </a:prstGeom>
          <a:solidFill>
            <a:srgbClr val="3B2C7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" name="Карточка"/>
          <p:cNvSpPr/>
          <p:nvPr/>
        </p:nvSpPr>
        <p:spPr>
          <a:xfrm>
            <a:off x="3395938" y="2491420"/>
            <a:ext cx="2520000" cy="2600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2600" b="1">
                <a:solidFill>
                  <a:srgbClr val="3B2C7F"/>
                </a:solidFill>
                <a:latin typeface="Arial"/>
              </a:rPr>
              <a:t>Локальная очередь</a:t>
            </a:r>
          </a:p>
          <a:p>
            <a:pPr algn="l"/>
            <a:r>
              <a:rPr lang="ru-RU" sz="2300">
                <a:latin typeface="Arial"/>
              </a:rPr>
              <a:t>действие пишется на диск (pending)</a:t>
            </a:r>
          </a:p>
        </p:txBody>
      </p:sp>
      <p:sp>
        <p:nvSpPr>
          <p:cNvPr id="15" name="Стрелка"/>
          <p:cNvSpPr/>
          <p:nvPr/>
        </p:nvSpPr>
        <p:spPr>
          <a:xfrm>
            <a:off x="5959138" y="3671420"/>
            <a:ext cx="273600" cy="240000"/>
          </a:xfrm>
          <a:prstGeom prst="rightArrow">
            <a:avLst/>
          </a:prstGeom>
          <a:solidFill>
            <a:srgbClr val="3B2C7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6" name="Карточка"/>
          <p:cNvSpPr/>
          <p:nvPr/>
        </p:nvSpPr>
        <p:spPr>
          <a:xfrm>
            <a:off x="6275938" y="2491420"/>
            <a:ext cx="2520000" cy="2600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2600" b="1">
                <a:solidFill>
                  <a:srgbClr val="3B2C7F"/>
                </a:solidFill>
                <a:latin typeface="Arial"/>
              </a:rPr>
              <a:t>Optimistic UI</a:t>
            </a:r>
          </a:p>
          <a:p>
            <a:pPr algn="l"/>
            <a:r>
              <a:rPr lang="ru-RU" sz="2300">
                <a:latin typeface="Arial"/>
              </a:rPr>
              <a:t>UI реагирует сразу, не блокируется</a:t>
            </a:r>
          </a:p>
        </p:txBody>
      </p:sp>
      <p:sp>
        <p:nvSpPr>
          <p:cNvPr id="17" name="Стрелка"/>
          <p:cNvSpPr/>
          <p:nvPr/>
        </p:nvSpPr>
        <p:spPr>
          <a:xfrm>
            <a:off x="8839138" y="3671420"/>
            <a:ext cx="273600" cy="240000"/>
          </a:xfrm>
          <a:prstGeom prst="rightArrow">
            <a:avLst/>
          </a:prstGeom>
          <a:solidFill>
            <a:srgbClr val="3B2C7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8" name="Карточка"/>
          <p:cNvSpPr/>
          <p:nvPr/>
        </p:nvSpPr>
        <p:spPr>
          <a:xfrm>
            <a:off x="9155938" y="2491420"/>
            <a:ext cx="2520000" cy="2600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2600" b="1">
                <a:solidFill>
                  <a:srgbClr val="3B2C7F"/>
                </a:solidFill>
                <a:latin typeface="Arial"/>
              </a:rPr>
              <a:t>Воркер доставляет</a:t>
            </a:r>
          </a:p>
          <a:p>
            <a:pPr algn="l"/>
            <a:r>
              <a:rPr lang="ru-RU" sz="2300">
                <a:latin typeface="Arial"/>
              </a:rPr>
              <a:t>сеть вернулась → POST → отправлено</a:t>
            </a:r>
          </a:p>
        </p:txBody>
      </p:sp>
      <p:sp>
        <p:nvSpPr>
          <p:cNvPr id="19" name="Карточка"/>
          <p:cNvSpPr/>
          <p:nvPr/>
        </p:nvSpPr>
        <p:spPr>
          <a:xfrm>
            <a:off x="515938" y="5670000"/>
            <a:ext cx="11160000" cy="760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ctr"/>
            <a:r>
              <a:rPr lang="ru-RU" sz="1900">
                <a:latin typeface="Arial"/>
              </a:rPr>
              <a:t>Проблема: в наивном приложении действие = немедленный запрос, без сети оно теряется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Компоненты outbox</a:t>
            </a:r>
          </a:p>
        </p:txBody>
      </p:sp>
      <p:graphicFrame>
        <p:nvGraphicFramePr>
          <p:cNvPr id="11" name="Таблица"/>
          <p:cNvGraphicFramePr>
            <a:graphicFrameLocks noGrp="1"/>
          </p:cNvGraphicFramePr>
          <p:nvPr/>
        </p:nvGraphicFramePr>
        <p:xfrm>
          <a:off x="515938" y="1600000"/>
          <a:ext cx="11160000" cy="28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0000"/>
                <a:gridCol w="5580000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Компонент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Роль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NetworkMonitor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обёртка над NWPathMonitor — знает о появлении сети заранее, до попытки запроса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OutboxItem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clientID (UUID) + действие + статус + счётчик ретраев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OutboxStore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персистентная очередь (outbox.json) — переживает перезапуск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OutboxProcessor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воркер: берёт pending, помечает inFlight, отправляет, ретраит с backoff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Идемпотентность</a:t>
            </a:r>
          </a:p>
        </p:txBody>
      </p:sp>
      <p:sp>
        <p:nvSpPr>
          <p:cNvPr id="11" name="Пояснения"/>
          <p:cNvSpPr txBox="1"/>
          <p:nvPr/>
        </p:nvSpPr>
        <p:spPr>
          <a:xfrm>
            <a:off x="515938" y="1500000"/>
            <a:ext cx="11160000" cy="147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pPr marL="285750" indent="-285750">
              <a:buFont typeface="Arial"/>
              <a:buChar char="•"/>
            </a:pPr>
            <a:r>
              <a:rPr lang="ru-RU" sz="1600">
                <a:latin typeface="Arial"/>
              </a:rPr>
              <a:t>Без ключа: ответ потерялся, клиент повторяет — два лайка или две оплаты</a:t>
            </a:r>
          </a:p>
          <a:p>
            <a:pPr marL="285750" indent="-285750">
              <a:buFont typeface="Arial"/>
              <a:buChar char="•"/>
            </a:pPr>
            <a:r>
              <a:rPr lang="ru-RU" sz="1600">
                <a:latin typeface="Arial"/>
              </a:rPr>
              <a:t>С ключом: сервер видит «этот clientID уже обрабатывал» и не задваивает</a:t>
            </a:r>
          </a:p>
          <a:p>
            <a:pPr marL="285750" indent="-285750">
              <a:buFont typeface="Arial"/>
              <a:buChar char="•"/>
            </a:pPr>
            <a:r>
              <a:rPr lang="ru-RU" sz="1600">
                <a:latin typeface="Arial"/>
              </a:rPr>
              <a:t>clientID — UUID: генерируется один раз и НЕ меняется между ретраями; летит в Idempotency-Key</a:t>
            </a:r>
          </a:p>
        </p:txBody>
      </p:sp>
      <p:sp>
        <p:nvSpPr>
          <p:cNvPr id="12" name="Подложка кода"/>
          <p:cNvSpPr/>
          <p:nvPr/>
        </p:nvSpPr>
        <p:spPr>
          <a:xfrm>
            <a:off x="515938" y="3061440"/>
            <a:ext cx="11160000" cy="2052320"/>
          </a:xfrm>
          <a:prstGeom prst="roundRect">
            <a:avLst>
              <a:gd name="adj" fmla="val 8000"/>
            </a:avLst>
          </a:prstGeom>
          <a:solidFill>
            <a:srgbClr val="D6DA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" name="Код"/>
          <p:cNvSpPr txBox="1"/>
          <p:nvPr/>
        </p:nvSpPr>
        <p:spPr>
          <a:xfrm>
            <a:off x="653098" y="3198600"/>
            <a:ext cx="10885680" cy="1778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pPr marL="0" indent="0">
              <a:buNone/>
            </a:pPr>
            <a:r>
              <a:rPr lang="ru-RU" sz="1400">
                <a:solidFill>
                  <a:srgbClr val="2E7D32"/>
                </a:solidFill>
                <a:latin typeface="Menlo"/>
              </a:rPr>
              <a:t>// clientID генерируется ОДИН раз при постановке в очередь…</a:t>
            </a:r>
          </a:p>
          <a:p>
            <a:pPr marL="0" indent="0">
              <a:buNone/>
            </a:pP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item =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OutboxItem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(clientID: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UUID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(), action: action, retryCount: </a:t>
            </a:r>
            <a:r>
              <a:rPr lang="ru-RU" sz="1400">
                <a:solidFill>
                  <a:srgbClr val="1C00CF"/>
                </a:solidFill>
                <a:latin typeface="Menlo"/>
              </a:rPr>
              <a:t>0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)</a:t>
            </a:r>
          </a:p>
          <a:p>
            <a:pPr marL="0" indent="0">
              <a:buNone/>
            </a:pPr>
            <a:endParaRPr lang="ru-RU" sz="1400"/>
          </a:p>
          <a:p>
            <a:pPr marL="0" indent="0">
              <a:buNone/>
            </a:pPr>
            <a:r>
              <a:rPr lang="ru-RU" sz="1400">
                <a:solidFill>
                  <a:srgbClr val="2E7D32"/>
                </a:solidFill>
                <a:latin typeface="Menlo"/>
              </a:rPr>
              <a:t>// …и не меняется между ретраями</a:t>
            </a:r>
          </a:p>
          <a:p>
            <a:pPr marL="0" indent="0">
              <a:buNone/>
            </a:pP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_: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PostResponse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=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try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await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api.post(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.posts, body: payload,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idempotencyKey: item.clientID.uuidString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→ заголовок Idempotency-Key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Сценарий демо outbox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LIVE DEMO · outbox переживает офлайн и перезапуск приложения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515938" y="2491420"/>
            <a:ext cx="3480000" cy="2600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2800" b="1">
                <a:solidFill>
                  <a:srgbClr val="3B2C7F"/>
                </a:solidFill>
                <a:latin typeface="Arial"/>
              </a:rPr>
              <a:t>Airplane Mode</a:t>
            </a:r>
          </a:p>
          <a:p>
            <a:pPr algn="l"/>
            <a:r>
              <a:rPr lang="ru-RU" sz="2200">
                <a:latin typeface="Arial"/>
              </a:rPr>
              <a:t>•  тап «лайк»</a:t>
            </a:r>
          </a:p>
          <a:p>
            <a:pPr algn="l"/>
            <a:r>
              <a:rPr lang="ru-RU" sz="2200">
                <a:latin typeface="Arial"/>
              </a:rPr>
              <a:t>•  в Настройках «в очереди: 1»</a:t>
            </a:r>
          </a:p>
        </p:txBody>
      </p:sp>
      <p:sp>
        <p:nvSpPr>
          <p:cNvPr id="13" name="Стрелка"/>
          <p:cNvSpPr/>
          <p:nvPr/>
        </p:nvSpPr>
        <p:spPr>
          <a:xfrm>
            <a:off x="4039138" y="3671420"/>
            <a:ext cx="273600" cy="240000"/>
          </a:xfrm>
          <a:prstGeom prst="rightArrow">
            <a:avLst/>
          </a:prstGeom>
          <a:solidFill>
            <a:srgbClr val="3B2C7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4" name="Карточка"/>
          <p:cNvSpPr/>
          <p:nvPr/>
        </p:nvSpPr>
        <p:spPr>
          <a:xfrm>
            <a:off x="4355938" y="2491420"/>
            <a:ext cx="3480000" cy="2600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2800" b="1">
                <a:solidFill>
                  <a:srgbClr val="3B2C7F"/>
                </a:solidFill>
                <a:latin typeface="Arial"/>
              </a:rPr>
              <a:t>Relaunch (офлайн)</a:t>
            </a:r>
          </a:p>
          <a:p>
            <a:pPr algn="l"/>
            <a:r>
              <a:rPr lang="ru-RU" sz="2200">
                <a:latin typeface="Arial"/>
              </a:rPr>
              <a:t>•  убить и перезапустить</a:t>
            </a:r>
          </a:p>
          <a:p>
            <a:pPr algn="l"/>
            <a:r>
              <a:rPr lang="ru-RU" sz="2200">
                <a:latin typeface="Arial"/>
              </a:rPr>
              <a:t>•  очередь на месте — с диска</a:t>
            </a:r>
          </a:p>
        </p:txBody>
      </p:sp>
      <p:sp>
        <p:nvSpPr>
          <p:cNvPr id="15" name="Стрелка"/>
          <p:cNvSpPr/>
          <p:nvPr/>
        </p:nvSpPr>
        <p:spPr>
          <a:xfrm>
            <a:off x="7879138" y="3671420"/>
            <a:ext cx="273600" cy="240000"/>
          </a:xfrm>
          <a:prstGeom prst="rightArrow">
            <a:avLst/>
          </a:prstGeom>
          <a:solidFill>
            <a:srgbClr val="3B2C7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6" name="Карточка"/>
          <p:cNvSpPr/>
          <p:nvPr/>
        </p:nvSpPr>
        <p:spPr>
          <a:xfrm>
            <a:off x="8195938" y="2491420"/>
            <a:ext cx="3480000" cy="26000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t" lIns="109728" tIns="82296" rIns="109728" bIns="82296">
            <a:normAutofit fontScale="100000" lnSpcReduction="0"/>
          </a:bodyPr>
          <a:lstStyle/>
          <a:p>
            <a:pPr algn="l"/>
            <a:r>
              <a:rPr lang="ru-RU" sz="2800" b="1">
                <a:solidFill>
                  <a:srgbClr val="3B2C7F"/>
                </a:solidFill>
                <a:latin typeface="Arial"/>
              </a:rPr>
              <a:t>Network returns</a:t>
            </a:r>
          </a:p>
          <a:p>
            <a:pPr algn="l"/>
            <a:r>
              <a:rPr lang="ru-RU" sz="2200">
                <a:latin typeface="Arial"/>
              </a:rPr>
              <a:t>•  NWPathMonitor ловит переход</a:t>
            </a:r>
          </a:p>
          <a:p>
            <a:pPr algn="l"/>
            <a:r>
              <a:rPr lang="ru-RU" sz="2200">
                <a:latin typeface="Arial"/>
              </a:rPr>
              <a:t>•  воркер отправляет, очередь пустеет</a:t>
            </a:r>
          </a:p>
        </p:txBody>
      </p:sp>
      <p:sp>
        <p:nvSpPr>
          <p:cNvPr id="17" name="Карточка"/>
          <p:cNvSpPr/>
          <p:nvPr/>
        </p:nvSpPr>
        <p:spPr>
          <a:xfrm>
            <a:off x="515938" y="5670000"/>
            <a:ext cx="11160000" cy="760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ctr"/>
            <a:r>
              <a:rPr lang="ru-RU" sz="2400">
                <a:latin typeface="Arial"/>
              </a:rPr>
              <a:t>Пользователь не сделал ничего особенного — всё произошло само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4000"/>
              <a:t>Дополнительные offline-кейсы</a:t>
            </a:r>
          </a:p>
        </p:txBody>
      </p:sp>
      <p:sp>
        <p:nvSpPr>
          <p:cNvPr id="11" name="Карточка"/>
          <p:cNvSpPr/>
          <p:nvPr/>
        </p:nvSpPr>
        <p:spPr>
          <a:xfrm>
            <a:off x="515938" y="1620000"/>
            <a:ext cx="5465700" cy="185212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Карты и маршруты</a:t>
            </a:r>
          </a:p>
          <a:p>
            <a:pPr algn="l"/>
            <a:r>
              <a:rPr lang="ru-RU" sz="2400">
                <a:latin typeface="Arial"/>
              </a:rPr>
              <a:t>заранее скачанный регион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6210238" y="1620000"/>
            <a:ext cx="5465700" cy="185212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Loyalty barcode</a:t>
            </a:r>
          </a:p>
          <a:p>
            <a:pPr algn="l"/>
            <a:r>
              <a:rPr lang="ru-RU" sz="2400">
                <a:latin typeface="Arial"/>
              </a:rPr>
              <a:t>штрихкод карты лояльности на кассе</a:t>
            </a:r>
          </a:p>
        </p:txBody>
      </p:sp>
      <p:sp>
        <p:nvSpPr>
          <p:cNvPr id="13" name="Карточка"/>
          <p:cNvSpPr/>
          <p:nvPr/>
        </p:nvSpPr>
        <p:spPr>
          <a:xfrm>
            <a:off x="515938" y="3700720"/>
            <a:ext cx="5465700" cy="185212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Offline content</a:t>
            </a:r>
          </a:p>
          <a:p>
            <a:pPr algn="l"/>
            <a:r>
              <a:rPr lang="ru-RU" sz="2400">
                <a:latin typeface="Arial"/>
              </a:rPr>
              <a:t>книги, подкасты, курсы с синхронизацией прогресса</a:t>
            </a:r>
          </a:p>
        </p:txBody>
      </p:sp>
      <p:sp>
        <p:nvSpPr>
          <p:cNvPr id="14" name="Карточка"/>
          <p:cNvSpPr/>
          <p:nvPr/>
        </p:nvSpPr>
        <p:spPr>
          <a:xfrm>
            <a:off x="6210238" y="3700720"/>
            <a:ext cx="5465700" cy="185212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Черновики</a:t>
            </a:r>
          </a:p>
          <a:p>
            <a:pPr algn="l"/>
            <a:r>
              <a:rPr lang="ru-RU" sz="2400">
                <a:latin typeface="Arial"/>
              </a:rPr>
              <a:t>переживают закрытие приложения</a:t>
            </a:r>
          </a:p>
        </p:txBody>
      </p:sp>
      <p:sp>
        <p:nvSpPr>
          <p:cNvPr id="15" name="Карточка"/>
          <p:cNvSpPr/>
          <p:nvPr/>
        </p:nvSpPr>
        <p:spPr>
          <a:xfrm>
            <a:off x="515938" y="5690000"/>
            <a:ext cx="11160000" cy="760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ctr"/>
            <a:r>
              <a:rPr lang="ru-RU" sz="1800">
                <a:latin typeface="Arial"/>
              </a:rPr>
              <a:t>Везде три идеи: локальный источник правды · честная индикация актуальности · очередь на запись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C0EDD1BC-B8D8-8048-A89D-A6115FE5BA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ru-RU"/>
              <a:t>Безопасность и</a:t>
            </a:r>
          </a:p>
          <a:p>
            <a:r>
              <a:rPr lang="ru-RU"/>
              <a:t>хранение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ru-RU"/>
              <a:t>04</a:t>
            </a:r>
          </a:p>
        </p:txBody>
      </p:sp>
      <p:pic>
        <p:nvPicPr>
          <p:cNvPr id="100" name="Картинка лектора 1"/>
          <p:cNvPicPr>
            <a:picLocks noChangeAspect="1"/>
          </p:cNvPicPr>
          <p:nvPr/>
        </p:nvPicPr>
        <p:blipFill>
          <a:blip r:embed="rId3"/>
          <a:srcRect l="-12466" t="9403" r="-1" b="18502"/>
          <a:stretch/>
        </p:blipFill>
        <p:spPr>
          <a:xfrm>
            <a:off x="6096000" y="2708276"/>
            <a:ext cx="5616575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5" name="Рисунок 4">
            <a:extLst>
              <a:ext uri="{FF2B5EF4-FFF2-40B4-BE49-F238E27FC236}">
                <a16:creationId id="{591F2C0E-EF26-314B-A1BF-23A49EA774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3" name="Picture 2">
            <a:extLst>
              <a:ext uri="{FF2B5EF4-FFF2-40B4-BE49-F238E27FC236}">
                <a16:creationId id="{345C781D-3F17-0F08-8016-FF98CD1D07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0"/>
          </p:nvPr>
        </p:nvSpPr>
        <p:spPr>
          <a:xfrm>
            <a:off x="515937" y="512763"/>
            <a:ext cx="11160125" cy="4200000"/>
          </a:xfrm>
        </p:spPr>
        <p:txBody>
          <a:bodyPr/>
          <a:lstStyle/>
          <a:p>
            <a:r>
              <a:rPr lang="ru-RU"/>
              <a:t>Без модели угроз любые советы по безопасности — карго-культ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От кого защищаемся</a:t>
            </a:r>
          </a:p>
        </p:txBody>
      </p:sp>
      <p:sp>
        <p:nvSpPr>
          <p:cNvPr id="11" name="Карточка"/>
          <p:cNvSpPr/>
          <p:nvPr/>
        </p:nvSpPr>
        <p:spPr>
          <a:xfrm>
            <a:off x="515938" y="1620000"/>
            <a:ext cx="3567600" cy="185212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400" b="1">
                <a:solidFill>
                  <a:srgbClr val="3B2C7F"/>
                </a:solidFill>
                <a:latin typeface="Arial"/>
              </a:rPr>
              <a:t>Вор телефона</a:t>
            </a:r>
          </a:p>
          <a:p>
            <a:pPr algn="l"/>
            <a:r>
              <a:rPr lang="ru-RU" sz="1900">
                <a:latin typeface="Arial"/>
              </a:rPr>
              <a:t>физический доступ к устройству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4312138" y="1620000"/>
            <a:ext cx="3567600" cy="185212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400" b="1">
                <a:solidFill>
                  <a:srgbClr val="3B2C7F"/>
                </a:solidFill>
                <a:latin typeface="Arial"/>
              </a:rPr>
              <a:t>Бэкап в iCloud / iTunes</a:t>
            </a:r>
          </a:p>
          <a:p>
            <a:pPr algn="l"/>
            <a:r>
              <a:rPr lang="ru-RU" sz="1900">
                <a:latin typeface="Arial"/>
              </a:rPr>
              <a:t>секреты могут уехать на другое устройство</a:t>
            </a:r>
          </a:p>
        </p:txBody>
      </p:sp>
      <p:sp>
        <p:nvSpPr>
          <p:cNvPr id="13" name="Карточка"/>
          <p:cNvSpPr/>
          <p:nvPr/>
        </p:nvSpPr>
        <p:spPr>
          <a:xfrm>
            <a:off x="8108338" y="1620000"/>
            <a:ext cx="3567600" cy="185212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400" b="1">
                <a:solidFill>
                  <a:srgbClr val="3B2C7F"/>
                </a:solidFill>
                <a:latin typeface="Arial"/>
              </a:rPr>
              <a:t>Jailbreak</a:t>
            </a:r>
          </a:p>
          <a:p>
            <a:pPr algn="l"/>
            <a:r>
              <a:rPr lang="ru-RU" sz="1900">
                <a:latin typeface="Arial"/>
              </a:rPr>
              <a:t>ослабленная песочница</a:t>
            </a:r>
          </a:p>
        </p:txBody>
      </p:sp>
      <p:sp>
        <p:nvSpPr>
          <p:cNvPr id="14" name="Карточка"/>
          <p:cNvSpPr/>
          <p:nvPr/>
        </p:nvSpPr>
        <p:spPr>
          <a:xfrm>
            <a:off x="515938" y="3700720"/>
            <a:ext cx="3567600" cy="185212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400" b="1">
                <a:solidFill>
                  <a:srgbClr val="3B2C7F"/>
                </a:solidFill>
                <a:latin typeface="Arial"/>
              </a:rPr>
              <a:t>Чужие глаза</a:t>
            </a:r>
          </a:p>
          <a:p>
            <a:pPr algn="l"/>
            <a:r>
              <a:rPr lang="ru-RU" sz="1900">
                <a:latin typeface="Arial"/>
              </a:rPr>
              <a:t>коллега, ребёнок, камера над плечом</a:t>
            </a:r>
          </a:p>
        </p:txBody>
      </p:sp>
      <p:sp>
        <p:nvSpPr>
          <p:cNvPr id="15" name="Карточка"/>
          <p:cNvSpPr/>
          <p:nvPr/>
        </p:nvSpPr>
        <p:spPr>
          <a:xfrm>
            <a:off x="4312138" y="3700720"/>
            <a:ext cx="3567600" cy="185212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400" b="1">
                <a:solidFill>
                  <a:srgbClr val="3B2C7F"/>
                </a:solidFill>
                <a:latin typeface="Arial"/>
              </a:rPr>
              <a:t>Логаут</a:t>
            </a:r>
          </a:p>
          <a:p>
            <a:pPr algn="l"/>
            <a:r>
              <a:rPr lang="ru-RU" sz="1900">
                <a:latin typeface="Arial"/>
              </a:rPr>
              <a:t>•  ОС защищает лишь периметр</a:t>
            </a:r>
          </a:p>
          <a:p>
            <a:pPr algn="l"/>
            <a:r>
              <a:rPr lang="ru-RU" sz="1900">
                <a:latin typeface="Arial"/>
              </a:rPr>
              <a:t>•  внутри контейнера всё наше: папка, класс доступности, очистка</a:t>
            </a:r>
          </a:p>
        </p:txBody>
      </p:sp>
      <p:sp>
        <p:nvSpPr>
          <p:cNvPr id="16" name="Карточка"/>
          <p:cNvSpPr/>
          <p:nvPr/>
        </p:nvSpPr>
        <p:spPr>
          <a:xfrm>
            <a:off x="8108338" y="3700720"/>
            <a:ext cx="3567600" cy="185212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400" b="1">
                <a:solidFill>
                  <a:srgbClr val="3B2C7F"/>
                </a:solidFill>
                <a:latin typeface="Arial"/>
              </a:rPr>
              <a:t>Компрометация сетевого канала</a:t>
            </a:r>
          </a:p>
          <a:p>
            <a:pPr algn="l"/>
            <a:r>
              <a:rPr lang="ru-RU" sz="1900">
                <a:latin typeface="Arial"/>
              </a:rPr>
              <a:t>перехват трафика: MITM, недоверенный Wi-Fi</a:t>
            </a:r>
          </a:p>
        </p:txBody>
      </p:sp>
      <p:sp>
        <p:nvSpPr>
          <p:cNvPr id="17" name="Карточка"/>
          <p:cNvSpPr/>
          <p:nvPr/>
        </p:nvSpPr>
        <p:spPr>
          <a:xfrm>
            <a:off x="515938" y="5690000"/>
            <a:ext cx="11160000" cy="760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ctr"/>
            <a:r>
              <a:rPr lang="ru-RU" sz="2400">
                <a:latin typeface="Arial"/>
              </a:rPr>
              <a:t>Под каждый сценарий — свой инструмент, а не «шифруйте всё»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Карта хранилищ</a:t>
            </a:r>
          </a:p>
        </p:txBody>
      </p:sp>
      <p:graphicFrame>
        <p:nvGraphicFramePr>
          <p:cNvPr id="11" name="Таблица"/>
          <p:cNvGraphicFramePr>
            <a:graphicFrameLocks noGrp="1"/>
          </p:cNvGraphicFramePr>
          <p:nvPr/>
        </p:nvGraphicFramePr>
        <p:xfrm>
          <a:off x="515938" y="1600000"/>
          <a:ext cx="11160000" cy="34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0000"/>
                <a:gridCol w="3720000"/>
                <a:gridCol w="3720000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Хранилище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Для чего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Чего нельзя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Keychain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токены, пароли, ключи шифрования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большие объёмы данных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UserDefaults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настройки, флаги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секреты/токены — это plain-text plist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Documents / App Support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пользовательские данные, бэкапятся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временный кэш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Caches / tmp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то, что можно перекачать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то, что нельзя потерять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Core Data / SQLite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офлайн-датасеты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секреты без шифрования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Папки песочницы + бэкап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Точечное исключение файла из бэкапа — URLResourceValues.isExcludedFromBackup</a:t>
            </a:r>
          </a:p>
          <a:p>
            <a:r>
              <a:rPr lang="ru-RU" sz="1800">
                <a:latin typeface="Arial"/>
              </a:rPr>
              <a:t>(например, большой скачанный датасет)</a:t>
            </a:r>
          </a:p>
        </p:txBody>
      </p:sp>
      <p:graphicFrame>
        <p:nvGraphicFramePr>
          <p:cNvPr id="12" name="Таблица"/>
          <p:cNvGraphicFramePr>
            <a:graphicFrameLocks noGrp="1"/>
          </p:cNvGraphicFramePr>
          <p:nvPr/>
        </p:nvGraphicFramePr>
        <p:xfrm>
          <a:off x="515938" y="2011440"/>
          <a:ext cx="11160000" cy="28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0000"/>
                <a:gridCol w="3720000"/>
                <a:gridCol w="3720000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Папка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В бэкапе iCloud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ОС может удалить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Documents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да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Application Support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да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Library/Caches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да — под нехватку места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tmp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да — в любой момент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Keychain — зачем и как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commit 6 · зашифрованное хранилище ОС (AES-256, Secure Enclave); только для</a:t>
            </a:r>
          </a:p>
          <a:p>
            <a:r>
              <a:rPr lang="ru-RU" sz="1800">
                <a:latin typeface="Arial"/>
              </a:rPr>
              <a:t>маленьких секретов</a:t>
            </a:r>
          </a:p>
        </p:txBody>
      </p:sp>
      <p:graphicFrame>
        <p:nvGraphicFramePr>
          <p:cNvPr id="12" name="Таблица"/>
          <p:cNvGraphicFramePr>
            <a:graphicFrameLocks noGrp="1"/>
          </p:cNvGraphicFramePr>
          <p:nvPr/>
        </p:nvGraphicFramePr>
        <p:xfrm>
          <a:off x="515938" y="2011440"/>
          <a:ext cx="11160000" cy="22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0000"/>
                <a:gridCol w="3720000"/>
                <a:gridCol w="3720000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Событие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Метод KeychainStore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Зачем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Логин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save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сохранить access token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Старт приложения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read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восстановить сессию после перезапуска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Логаут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delete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удалить секрет с устройства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KeychainStore</a:t>
            </a:r>
          </a:p>
        </p:txBody>
      </p:sp>
      <p:sp>
        <p:nvSpPr>
          <p:cNvPr id="11" name="Подложка кода"/>
          <p:cNvSpPr/>
          <p:nvPr/>
        </p:nvSpPr>
        <p:spPr>
          <a:xfrm>
            <a:off x="515938" y="1500000"/>
            <a:ext cx="11160000" cy="3385820"/>
          </a:xfrm>
          <a:prstGeom prst="roundRect">
            <a:avLst>
              <a:gd name="adj" fmla="val 8000"/>
            </a:avLst>
          </a:prstGeom>
          <a:solidFill>
            <a:srgbClr val="D6DA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" name="Код"/>
          <p:cNvSpPr txBox="1"/>
          <p:nvPr/>
        </p:nvSpPr>
        <p:spPr>
          <a:xfrm>
            <a:off x="653098" y="1637160"/>
            <a:ext cx="10885680" cy="31115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pPr marL="0" indent="0">
              <a:buNone/>
            </a:pPr>
            <a:r>
              <a:rPr lang="ru-RU" sz="1400" b="1">
                <a:solidFill>
                  <a:srgbClr val="AD3DA4"/>
                </a:solidFill>
                <a:latin typeface="Menlo"/>
              </a:rPr>
              <a:t>final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class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KeychainStore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{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func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save(_ data: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Data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, account: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String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)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throws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{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var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query: [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CFString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: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Any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] = [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    kSecClass: kSecClassGenericPassword,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класс для app-токенов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    kSecAttrService: service, kSecAttrAccount: account,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    kSecValueData: data,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    kSecAttrAccessible: kSecAttrAccessibleAfterFirstUnlockThisDeviceOnly]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status =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SecItemAdd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(query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as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CFDictionary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,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nil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)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guard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status == errSecSuccess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else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{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   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throw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KeychainError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.unexpectedStatus(status)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    }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}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read uses SecItemCopyMatching; delete uses SecItemDelete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Классы доступности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Наш выбор — AfterFirstUnlockThisDeviceOnly: обе части названия выбраны осознанно</a:t>
            </a:r>
          </a:p>
        </p:txBody>
      </p:sp>
      <p:graphicFrame>
        <p:nvGraphicFramePr>
          <p:cNvPr id="12" name="Таблица"/>
          <p:cNvGraphicFramePr>
            <a:graphicFrameLocks noGrp="1"/>
          </p:cNvGraphicFramePr>
          <p:nvPr/>
        </p:nvGraphicFramePr>
        <p:xfrm>
          <a:off x="515938" y="2011440"/>
          <a:ext cx="11160000" cy="22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0000"/>
                <a:gridCol w="5580000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Класс доступности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Когда ОС отдаёт секрет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WhenUnlocked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только при разблокированном экране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AfterFirstUnlock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после первой разблокировки после включения — доступен и в фоне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+ суффикс ThisDeviceOnly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секрет не попадает в бэкап и не переезжает на другое устройство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UserDefaults vs Keychain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LIVE DEMO</a:t>
            </a:r>
          </a:p>
        </p:txBody>
      </p:sp>
      <p:graphicFrame>
        <p:nvGraphicFramePr>
          <p:cNvPr id="12" name="Таблица"/>
          <p:cNvGraphicFramePr>
            <a:graphicFrameLocks noGrp="1"/>
          </p:cNvGraphicFramePr>
          <p:nvPr/>
        </p:nvGraphicFramePr>
        <p:xfrm>
          <a:off x="515938" y="2011440"/>
          <a:ext cx="11160000" cy="28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0000"/>
                <a:gridCol w="3720000"/>
                <a:gridCol w="3720000"/>
              </a:tblGrid>
              <a:tr h="430000">
                <a:tc>
                  <a:txBody>
                    <a:bodyPr/>
                    <a:lstStyle/>
                    <a:p>
                      <a:pPr algn="l"/>
                      <a:endParaRPr lang="ru-RU" sz="1600"/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UserDefaults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Keychain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Физически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plain-text .plist в Library/Preferences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зашифрованная БД ОС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Шифрование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нет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AES-256, ключи в Secure Enclave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Бэкап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уезжает в iCloud как есть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 ThisDeviceOnly — не уезжает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Что класть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настройки, флаги, имя пользователя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секреты: токены, пароли, ключи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4000"/>
              <a:t>FaceID — гейт, а не шифрование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commit 7</a:t>
            </a:r>
          </a:p>
        </p:txBody>
      </p:sp>
      <p:graphicFrame>
        <p:nvGraphicFramePr>
          <p:cNvPr id="12" name="Таблица"/>
          <p:cNvGraphicFramePr>
            <a:graphicFrameLocks noGrp="1"/>
          </p:cNvGraphicFramePr>
          <p:nvPr/>
        </p:nvGraphicFramePr>
        <p:xfrm>
          <a:off x="515938" y="2011440"/>
          <a:ext cx="11160000" cy="14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60000"/>
                <a:gridCol w="3100000"/>
                <a:gridCol w="3100000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ru-RU" sz="15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Политика LAPolicy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Что разрешает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Где используем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.deviceOwnerAuthenticationWithBiometrics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только FaceID / TouchID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гейт на билет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.deviceOwnerAuthentication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биометрия или пароль устройства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фолбэк (симулятор без биометрии)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3200"/>
              <a:t>FaceID на TicketView vs payment token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Два уровня защиты: UI-гейт можно обойти багом в приложении, Keychain ACL — нельзя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515938" y="2050000"/>
            <a:ext cx="3567600" cy="350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300" b="1">
                <a:solidFill>
                  <a:srgbClr val="3B2C7F"/>
                </a:solidFill>
                <a:latin typeface="Arial"/>
              </a:rPr>
              <a:t>Билет — гейт в UI (охраняет приложение)</a:t>
            </a:r>
          </a:p>
          <a:p>
            <a:pPr algn="l"/>
            <a:r>
              <a:rPr lang="ru-RU" sz="1900">
                <a:latin typeface="Arial"/>
              </a:rPr>
              <a:t>•  данные уже на диске; FaceID лишь решает — показать или нет</a:t>
            </a:r>
          </a:p>
          <a:p>
            <a:pPr algn="l"/>
            <a:r>
              <a:rPr lang="ru-RU" sz="1900">
                <a:latin typeface="Arial"/>
              </a:rPr>
              <a:t>•  ушли в фон → экран билета снова блокируется</a:t>
            </a:r>
          </a:p>
        </p:txBody>
      </p:sp>
      <p:sp>
        <p:nvSpPr>
          <p:cNvPr id="13" name="Карточка"/>
          <p:cNvSpPr/>
          <p:nvPr/>
        </p:nvSpPr>
        <p:spPr>
          <a:xfrm>
            <a:off x="4312138" y="2050000"/>
            <a:ext cx="3567600" cy="350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300" b="1">
                <a:solidFill>
                  <a:srgbClr val="3B2C7F"/>
                </a:solidFill>
                <a:latin typeface="Arial"/>
              </a:rPr>
              <a:t>Платёжный токен — гейт в ОС (охраняет Keychain)</a:t>
            </a:r>
          </a:p>
          <a:p>
            <a:pPr algn="l"/>
            <a:r>
              <a:rPr lang="ru-RU" sz="1900">
                <a:latin typeface="Arial"/>
              </a:rPr>
              <a:t>•  SecAccessControl (.biometryCurrentSet)</a:t>
            </a:r>
          </a:p>
          <a:p>
            <a:pPr algn="l"/>
            <a:r>
              <a:rPr lang="ru-RU" sz="1900">
                <a:latin typeface="Arial"/>
              </a:rPr>
              <a:t>•  биометрию требует сам Keychain через Secure Enclave — секрет физически не отдаётся без живого FaceID</a:t>
            </a:r>
          </a:p>
        </p:txBody>
      </p:sp>
      <p:sp>
        <p:nvSpPr>
          <p:cNvPr id="14" name="Карточка"/>
          <p:cNvSpPr/>
          <p:nvPr/>
        </p:nvSpPr>
        <p:spPr>
          <a:xfrm>
            <a:off x="8108338" y="2050000"/>
            <a:ext cx="3567600" cy="350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300" b="1">
                <a:solidFill>
                  <a:srgbClr val="3B2C7F"/>
                </a:solidFill>
                <a:latin typeface="Arial"/>
              </a:rPr>
              <a:t>CurrentSet vs Any</a:t>
            </a:r>
          </a:p>
          <a:p>
            <a:pPr algn="l"/>
            <a:r>
              <a:rPr lang="ru-RU" sz="1900">
                <a:latin typeface="Arial"/>
              </a:rPr>
              <a:t>•  biometryAny: добавили новое лицо — секрет всё ещё читается</a:t>
            </a:r>
          </a:p>
          <a:p>
            <a:pPr algn="l"/>
            <a:r>
              <a:rPr lang="ru-RU" sz="1900">
                <a:latin typeface="Arial"/>
              </a:rPr>
              <a:t>•  biometryCurrentSet: биометрия сменилась — секрет недоступен</a:t>
            </a:r>
          </a:p>
        </p:txBody>
      </p:sp>
      <p:sp>
        <p:nvSpPr>
          <p:cNvPr id="15" name="Карточка"/>
          <p:cNvSpPr/>
          <p:nvPr/>
        </p:nvSpPr>
        <p:spPr>
          <a:xfrm>
            <a:off x="515938" y="5690000"/>
            <a:ext cx="11160000" cy="760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ctr"/>
            <a:r>
              <a:rPr lang="ru-RU" sz="1800">
                <a:latin typeface="Arial"/>
              </a:rPr>
              <a:t>Билет охраняет код приложения, платёжный токен — сама ОС; для платёжных данных — только .biometryCurrentSet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3200"/>
              <a:t>SecAccessControl: .biometryCurrentSet</a:t>
            </a:r>
          </a:p>
        </p:txBody>
      </p:sp>
      <p:sp>
        <p:nvSpPr>
          <p:cNvPr id="11" name="Подложка кода"/>
          <p:cNvSpPr/>
          <p:nvPr/>
        </p:nvSpPr>
        <p:spPr>
          <a:xfrm>
            <a:off x="515938" y="1500000"/>
            <a:ext cx="11160000" cy="2719070"/>
          </a:xfrm>
          <a:prstGeom prst="roundRect">
            <a:avLst>
              <a:gd name="adj" fmla="val 8000"/>
            </a:avLst>
          </a:prstGeom>
          <a:solidFill>
            <a:srgbClr val="D6DAE3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2" name="Код"/>
          <p:cNvSpPr txBox="1"/>
          <p:nvPr/>
        </p:nvSpPr>
        <p:spPr>
          <a:xfrm>
            <a:off x="653098" y="1637160"/>
            <a:ext cx="10885680" cy="244475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pPr marL="0" indent="0">
              <a:buNone/>
            </a:pPr>
            <a:r>
              <a:rPr lang="ru-RU" sz="1400" b="1">
                <a:solidFill>
                  <a:srgbClr val="AD3DA4"/>
                </a:solidFill>
                <a:latin typeface="Menlo"/>
              </a:rPr>
              <a:t>let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access =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SecAccessControlCreateWithFlags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(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kCFAllocatorDefault,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kSecAttrAccessibleWhenUnlockedThisDeviceOnly,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.biometryCurrentSet,     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🔑 не .biometryAny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    &amp;error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)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query[kSecAttrAccessControl] = access   </a:t>
            </a:r>
            <a:r>
              <a:rPr lang="ru-RU" sz="1400">
                <a:solidFill>
                  <a:srgbClr val="2E7D32"/>
                </a:solidFill>
                <a:latin typeface="Menlo"/>
              </a:rPr>
              <a:t>// секрет привязан к текущей биометрии</a:t>
            </a:r>
          </a:p>
          <a:p>
            <a:pPr marL="0" indent="0">
              <a:buNone/>
            </a:pPr>
            <a:endParaRPr lang="ru-RU" sz="1400"/>
          </a:p>
          <a:p>
            <a:pPr marL="0" indent="0">
              <a:buNone/>
            </a:pPr>
            <a:r>
              <a:rPr lang="ru-RU" sz="1400">
                <a:solidFill>
                  <a:srgbClr val="2E7D32"/>
                </a:solidFill>
                <a:latin typeface="Menlo"/>
              </a:rPr>
              <a:t>// чтение: FaceID-промпт показывает сам Keychain через Secure Enclave</a:t>
            </a:r>
          </a:p>
          <a:p>
            <a:pPr marL="0" indent="0">
              <a:buNone/>
            </a:pPr>
            <a:r>
              <a:rPr lang="ru-RU" sz="1400">
                <a:solidFill>
                  <a:srgbClr val="1F1F24"/>
                </a:solidFill>
                <a:latin typeface="Menlo"/>
              </a:rPr>
              <a:t>query[kSecUseAuthenticationContext] =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LAContext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()</a:t>
            </a:r>
          </a:p>
          <a:p>
            <a:pPr marL="0" indent="0">
              <a:buNone/>
            </a:pPr>
            <a:r>
              <a:rPr lang="ru-RU" sz="1400">
                <a:solidFill>
                  <a:srgbClr val="3E8087"/>
                </a:solidFill>
                <a:latin typeface="Menlo"/>
              </a:rPr>
              <a:t>SecItemCopyMatching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(query </a:t>
            </a:r>
            <a:r>
              <a:rPr lang="ru-RU" sz="1400" b="1">
                <a:solidFill>
                  <a:srgbClr val="AD3DA4"/>
                </a:solidFill>
                <a:latin typeface="Menlo"/>
              </a:rPr>
              <a:t>as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 </a:t>
            </a:r>
            <a:r>
              <a:rPr lang="ru-RU" sz="1400">
                <a:solidFill>
                  <a:srgbClr val="3E8087"/>
                </a:solidFill>
                <a:latin typeface="Menlo"/>
              </a:rPr>
              <a:t>CFDictionary</a:t>
            </a:r>
            <a:r>
              <a:rPr lang="ru-RU" sz="1400">
                <a:solidFill>
                  <a:srgbClr val="1F1F24"/>
                </a:solidFill>
                <a:latin typeface="Menlo"/>
              </a:rPr>
              <a:t>, &amp;result)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4000"/>
              <a:t>accessToken и paymentToken</a:t>
            </a:r>
          </a:p>
        </p:txBody>
      </p:sp>
      <p:graphicFrame>
        <p:nvGraphicFramePr>
          <p:cNvPr id="11" name="Таблица"/>
          <p:cNvGraphicFramePr>
            <a:graphicFrameLocks noGrp="1"/>
          </p:cNvGraphicFramePr>
          <p:nvPr/>
        </p:nvGraphicFramePr>
        <p:xfrm>
          <a:off x="515938" y="1600000"/>
          <a:ext cx="11160000" cy="143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0000"/>
                <a:gridCol w="4464000"/>
                <a:gridCol w="3906000"/>
              </a:tblGrid>
              <a:tr h="430000">
                <a:tc>
                  <a:txBody>
                    <a:bodyPr/>
                    <a:lstStyle/>
                    <a:p>
                      <a:pPr algn="l"/>
                      <a:r>
                        <a:rPr lang="ru-RU" sz="15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Токен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FF9C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Класс / ACL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 b="1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Чтение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F0ED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accessToken (коммит 6)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AfterFirstUnlockThisDeviceOnly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без биометрии — нужен фоновому outbox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paymentToken (коммит 7)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SecAccessControl(.biometryCurrentSet)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500">
                          <a:solidFill>
                            <a:srgbClr val="1F1F24"/>
                          </a:solidFill>
                          <a:latin typeface="Arial"/>
                          <a:cs typeface="Arial"/>
                        </a:rPr>
                        <a:t>только через FaceID на уровне ОС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FFF9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Не забыть про Info.plist</a:t>
            </a:r>
          </a:p>
        </p:txBody>
      </p:sp>
      <p:sp>
        <p:nvSpPr>
          <p:cNvPr id="11" name="Подзаголовок"/>
          <p:cNvSpPr txBox="1"/>
          <p:nvPr/>
        </p:nvSpPr>
        <p:spPr>
          <a:xfrm>
            <a:off x="515938" y="1370000"/>
            <a:ext cx="11160000" cy="55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NSFaceIDUsageDescription — обязательный ключ; текст должен объяснять пользователю, зачем</a:t>
            </a:r>
          </a:p>
          <a:p>
            <a:r>
              <a:rPr lang="ru-RU" sz="1800">
                <a:latin typeface="Arial"/>
              </a:rPr>
              <a:t>FaceID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515938" y="2050000"/>
            <a:ext cx="3567600" cy="350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400" b="1">
                <a:solidFill>
                  <a:srgbClr val="3B2C7F"/>
                </a:solidFill>
                <a:latin typeface="Arial"/>
              </a:rPr>
              <a:t>Что добавить</a:t>
            </a:r>
          </a:p>
          <a:p>
            <a:pPr algn="l"/>
            <a:r>
              <a:rPr lang="ru-RU" sz="2000">
                <a:latin typeface="Arial"/>
              </a:rPr>
              <a:t>ключ NSFaceIDUsageDescription и понятный пользователю текст</a:t>
            </a:r>
          </a:p>
        </p:txBody>
      </p:sp>
      <p:sp>
        <p:nvSpPr>
          <p:cNvPr id="13" name="Карточка"/>
          <p:cNvSpPr/>
          <p:nvPr/>
        </p:nvSpPr>
        <p:spPr>
          <a:xfrm>
            <a:off x="4312138" y="2050000"/>
            <a:ext cx="3567600" cy="350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400" b="1">
                <a:solidFill>
                  <a:srgbClr val="3B2C7F"/>
                </a:solidFill>
                <a:latin typeface="Arial"/>
              </a:rPr>
              <a:t>Что будет без ключа</a:t>
            </a:r>
          </a:p>
          <a:p>
            <a:pPr algn="l"/>
            <a:r>
              <a:rPr lang="ru-RU" sz="2000">
                <a:latin typeface="Arial"/>
              </a:rPr>
              <a:t>обращение к FaceID приводит к crash, а не к обычной ошибке</a:t>
            </a:r>
          </a:p>
        </p:txBody>
      </p:sp>
      <p:sp>
        <p:nvSpPr>
          <p:cNvPr id="14" name="Карточка"/>
          <p:cNvSpPr/>
          <p:nvPr/>
        </p:nvSpPr>
        <p:spPr>
          <a:xfrm>
            <a:off x="8108338" y="2050000"/>
            <a:ext cx="3567600" cy="350284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400" b="1">
                <a:solidFill>
                  <a:srgbClr val="3B2C7F"/>
                </a:solidFill>
                <a:latin typeface="Arial"/>
              </a:rPr>
              <a:t>Где проверить</a:t>
            </a:r>
          </a:p>
          <a:p>
            <a:pPr algn="l"/>
            <a:r>
              <a:rPr lang="ru-RU" sz="2000">
                <a:latin typeface="Arial"/>
              </a:rPr>
              <a:t>•  Info.plist проекта</a:t>
            </a:r>
          </a:p>
          <a:p>
            <a:pPr algn="l"/>
            <a:r>
              <a:rPr lang="ru-RU" sz="2000">
                <a:latin typeface="Arial"/>
              </a:rPr>
              <a:t>•  smoke-test на устройстве с биометрией</a:t>
            </a:r>
          </a:p>
        </p:txBody>
      </p:sp>
      <p:sp>
        <p:nvSpPr>
          <p:cNvPr id="15" name="Карточка"/>
          <p:cNvSpPr/>
          <p:nvPr/>
        </p:nvSpPr>
        <p:spPr>
          <a:xfrm>
            <a:off x="515938" y="5690000"/>
            <a:ext cx="11160000" cy="760000"/>
          </a:xfrm>
          <a:prstGeom prst="roundRect">
            <a:avLst>
              <a:gd name="adj" fmla="val 6000"/>
            </a:avLst>
          </a:prstGeom>
          <a:solidFill>
            <a:srgbClr val="FFF9C1"/>
          </a:solidFill>
          <a:ln w="12700">
            <a:solidFill>
              <a:srgbClr val="E8DF8F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ctr"/>
            <a:r>
              <a:rPr lang="ru-RU" sz="1800">
                <a:latin typeface="Arial"/>
              </a:rPr>
              <a:t>&lt;key&gt;NSFaceIDUsageDescription&lt;/key&gt; · &lt;string&gt;Подтвердите личность, чтобы открыть билет и платёжные данные&lt;/string&gt;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D64B4E99-3D1C-2F45-BE2A-0CAD19ADB4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ru-RU"/>
              <a:t>Итоги</a:t>
            </a:r>
          </a:p>
        </p:txBody>
      </p:sp>
      <p:sp>
        <p:nvSpPr>
          <p:cNvPr id="11" name="Текст 2"/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ru-RU"/>
              <a:t>05</a:t>
            </a:r>
          </a:p>
        </p:txBody>
      </p:sp>
      <p:pic>
        <p:nvPicPr>
          <p:cNvPr id="100" name="Картинка лектора 1"/>
          <p:cNvPicPr>
            <a:picLocks noChangeAspect="1"/>
          </p:cNvPicPr>
          <p:nvPr/>
        </p:nvPicPr>
        <p:blipFill>
          <a:blip r:embed="rId3"/>
          <a:srcRect l="-5989" t="20381" r="-6362" b="22157"/>
          <a:stretch/>
        </p:blipFill>
        <p:spPr>
          <a:xfrm>
            <a:off x="6096000" y="2708276"/>
            <a:ext cx="5616575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/>
              <a:t>Типичные ошибки</a:t>
            </a:r>
          </a:p>
        </p:txBody>
      </p:sp>
      <p:sp>
        <p:nvSpPr>
          <p:cNvPr id="11" name="Карточка"/>
          <p:cNvSpPr/>
          <p:nvPr/>
        </p:nvSpPr>
        <p:spPr>
          <a:xfrm>
            <a:off x="515938" y="1620000"/>
            <a:ext cx="3567600" cy="23007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✗</a:t>
            </a:r>
          </a:p>
          <a:p>
            <a:pPr algn="l"/>
            <a:r>
              <a:rPr lang="ru-RU" sz="2400">
                <a:latin typeface="Arial"/>
              </a:rPr>
              <a:t>протухший кэш без индикации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4312138" y="1620000"/>
            <a:ext cx="3567600" cy="23007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✗</a:t>
            </a:r>
          </a:p>
          <a:p>
            <a:pPr algn="l"/>
            <a:r>
              <a:rPr lang="ru-RU" sz="2400">
                <a:latin typeface="Arial"/>
              </a:rPr>
              <a:t>токены в UserDefaults</a:t>
            </a:r>
          </a:p>
        </p:txBody>
      </p:sp>
      <p:sp>
        <p:nvSpPr>
          <p:cNvPr id="13" name="Карточка"/>
          <p:cNvSpPr/>
          <p:nvPr/>
        </p:nvSpPr>
        <p:spPr>
          <a:xfrm>
            <a:off x="8108338" y="1620000"/>
            <a:ext cx="3567600" cy="23007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✗</a:t>
            </a:r>
          </a:p>
          <a:p>
            <a:pPr algn="l"/>
            <a:r>
              <a:rPr lang="ru-RU" sz="2400">
                <a:latin typeface="Arial"/>
              </a:rPr>
              <a:t>билеты в Library/Caches</a:t>
            </a:r>
          </a:p>
        </p:txBody>
      </p:sp>
      <p:sp>
        <p:nvSpPr>
          <p:cNvPr id="14" name="Карточка"/>
          <p:cNvSpPr/>
          <p:nvPr/>
        </p:nvSpPr>
        <p:spPr>
          <a:xfrm>
            <a:off x="515938" y="4149300"/>
            <a:ext cx="3567600" cy="23007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✗</a:t>
            </a:r>
          </a:p>
          <a:p>
            <a:pPr algn="l"/>
            <a:r>
              <a:rPr lang="ru-RU" sz="2400">
                <a:latin typeface="Arial"/>
              </a:rPr>
              <a:t>FaceID только в UI, без привязки к Keychain</a:t>
            </a:r>
          </a:p>
        </p:txBody>
      </p:sp>
      <p:sp>
        <p:nvSpPr>
          <p:cNvPr id="15" name="Карточка"/>
          <p:cNvSpPr/>
          <p:nvPr/>
        </p:nvSpPr>
        <p:spPr>
          <a:xfrm>
            <a:off x="4312138" y="4149300"/>
            <a:ext cx="3567600" cy="23007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✗</a:t>
            </a:r>
          </a:p>
          <a:p>
            <a:pPr algn="l"/>
            <a:r>
              <a:rPr lang="ru-RU" sz="2400">
                <a:latin typeface="Arial"/>
              </a:rPr>
              <a:t>не чистят всё при логауте</a:t>
            </a:r>
          </a:p>
        </p:txBody>
      </p:sp>
      <p:sp>
        <p:nvSpPr>
          <p:cNvPr id="16" name="Карточка"/>
          <p:cNvSpPr/>
          <p:nvPr/>
        </p:nvSpPr>
        <p:spPr>
          <a:xfrm>
            <a:off x="8108338" y="4149300"/>
            <a:ext cx="3567600" cy="23007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3000" b="1">
                <a:solidFill>
                  <a:srgbClr val="3B2C7F"/>
                </a:solidFill>
                <a:latin typeface="Arial"/>
              </a:rPr>
              <a:t>✗</a:t>
            </a:r>
          </a:p>
          <a:p>
            <a:pPr algn="l"/>
            <a:r>
              <a:rPr lang="ru-RU" sz="2400">
                <a:latin typeface="Arial"/>
              </a:rPr>
              <a:t>«попробуйте позже» выдаётся за offline-режим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7" name="Рисунок 6">
            <a:extLst>
              <a:ext uri="{FF2B5EF4-FFF2-40B4-BE49-F238E27FC236}">
                <a16:creationId id="{8F4B52E2-8E5A-404E-9E4D-3304C1949D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4" name="Picture 3">
            <a:extLst>
              <a:ext uri="{FF2B5EF4-FFF2-40B4-BE49-F238E27FC236}">
                <a16:creationId id="{69B521AD-3E52-DC1D-A314-144CFA1FBA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ru-RU" sz="3200"/>
              <a:t>Чек-лист отказоустойчивого приложения</a:t>
            </a:r>
          </a:p>
        </p:txBody>
      </p:sp>
      <p:sp>
        <p:nvSpPr>
          <p:cNvPr id="11" name="Карточка"/>
          <p:cNvSpPr/>
          <p:nvPr/>
        </p:nvSpPr>
        <p:spPr>
          <a:xfrm>
            <a:off x="515938" y="1620000"/>
            <a:ext cx="2618550" cy="23007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700" b="1">
                <a:solidFill>
                  <a:srgbClr val="3B2C7F"/>
                </a:solidFill>
                <a:latin typeface="Arial"/>
              </a:rPr>
              <a:t>✓</a:t>
            </a:r>
          </a:p>
          <a:p>
            <a:pPr algn="l"/>
            <a:r>
              <a:rPr lang="ru-RU" sz="2200">
                <a:latin typeface="Arial"/>
              </a:rPr>
              <a:t>локальный источник правды; сеть только синхронизирует</a:t>
            </a:r>
          </a:p>
        </p:txBody>
      </p:sp>
      <p:sp>
        <p:nvSpPr>
          <p:cNvPr id="12" name="Карточка"/>
          <p:cNvSpPr/>
          <p:nvPr/>
        </p:nvSpPr>
        <p:spPr>
          <a:xfrm>
            <a:off x="3363088" y="1620000"/>
            <a:ext cx="2618550" cy="23007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700" b="1">
                <a:solidFill>
                  <a:srgbClr val="3B2C7F"/>
                </a:solidFill>
                <a:latin typeface="Arial"/>
              </a:rPr>
              <a:t>✓</a:t>
            </a:r>
          </a:p>
          <a:p>
            <a:pPr algn="l"/>
            <a:r>
              <a:rPr lang="ru-RU" sz="2200">
                <a:latin typeface="Arial"/>
              </a:rPr>
              <a:t>у кэша — TTL, версия схемы, очистка при логауте</a:t>
            </a:r>
          </a:p>
        </p:txBody>
      </p:sp>
      <p:sp>
        <p:nvSpPr>
          <p:cNvPr id="13" name="Карточка"/>
          <p:cNvSpPr/>
          <p:nvPr/>
        </p:nvSpPr>
        <p:spPr>
          <a:xfrm>
            <a:off x="6210238" y="1620000"/>
            <a:ext cx="2618550" cy="23007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700" b="1">
                <a:solidFill>
                  <a:srgbClr val="3B2C7F"/>
                </a:solidFill>
                <a:latin typeface="Arial"/>
              </a:rPr>
              <a:t>✓</a:t>
            </a:r>
          </a:p>
          <a:p>
            <a:pPr algn="l"/>
            <a:r>
              <a:rPr lang="ru-RU" sz="2200">
                <a:latin typeface="Arial"/>
              </a:rPr>
              <a:t>честно показываем актуальность данных</a:t>
            </a:r>
          </a:p>
        </p:txBody>
      </p:sp>
      <p:sp>
        <p:nvSpPr>
          <p:cNvPr id="14" name="Карточка"/>
          <p:cNvSpPr/>
          <p:nvPr/>
        </p:nvSpPr>
        <p:spPr>
          <a:xfrm>
            <a:off x="9057388" y="1620000"/>
            <a:ext cx="2618550" cy="23007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700" b="1">
                <a:solidFill>
                  <a:srgbClr val="3B2C7F"/>
                </a:solidFill>
                <a:latin typeface="Arial"/>
              </a:rPr>
              <a:t>✓</a:t>
            </a:r>
          </a:p>
          <a:p>
            <a:pPr algn="l"/>
            <a:r>
              <a:rPr lang="ru-RU" sz="2200">
                <a:latin typeface="Arial"/>
              </a:rPr>
              <a:t>запись без сети — в outbox с идемпотентностью</a:t>
            </a:r>
          </a:p>
        </p:txBody>
      </p:sp>
      <p:sp>
        <p:nvSpPr>
          <p:cNvPr id="15" name="Карточка"/>
          <p:cNvSpPr/>
          <p:nvPr/>
        </p:nvSpPr>
        <p:spPr>
          <a:xfrm>
            <a:off x="515938" y="4149300"/>
            <a:ext cx="2618550" cy="23007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700" b="1">
                <a:solidFill>
                  <a:srgbClr val="3B2C7F"/>
                </a:solidFill>
                <a:latin typeface="Arial"/>
              </a:rPr>
              <a:t>✓</a:t>
            </a:r>
          </a:p>
          <a:p>
            <a:pPr algn="l"/>
            <a:r>
              <a:rPr lang="ru-RU" sz="2200">
                <a:latin typeface="Arial"/>
              </a:rPr>
              <a:t>секреты — только Keychain с правильным классом</a:t>
            </a:r>
          </a:p>
        </p:txBody>
      </p:sp>
      <p:sp>
        <p:nvSpPr>
          <p:cNvPr id="16" name="Карточка"/>
          <p:cNvSpPr/>
          <p:nvPr/>
        </p:nvSpPr>
        <p:spPr>
          <a:xfrm>
            <a:off x="3363088" y="4149300"/>
            <a:ext cx="2618550" cy="23007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700" b="1">
                <a:solidFill>
                  <a:srgbClr val="3B2C7F"/>
                </a:solidFill>
                <a:latin typeface="Arial"/>
              </a:rPr>
              <a:t>✓</a:t>
            </a:r>
          </a:p>
          <a:p>
            <a:pPr algn="l"/>
            <a:r>
              <a:rPr lang="ru-RU" sz="2200">
                <a:latin typeface="Arial"/>
              </a:rPr>
              <a:t>файлы — в правильных папках; критичное вне бэкапа</a:t>
            </a:r>
          </a:p>
        </p:txBody>
      </p:sp>
      <p:sp>
        <p:nvSpPr>
          <p:cNvPr id="17" name="Карточка"/>
          <p:cNvSpPr/>
          <p:nvPr/>
        </p:nvSpPr>
        <p:spPr>
          <a:xfrm>
            <a:off x="6210238" y="4149300"/>
            <a:ext cx="2618550" cy="23007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700" b="1">
                <a:solidFill>
                  <a:srgbClr val="3B2C7F"/>
                </a:solidFill>
                <a:latin typeface="Arial"/>
              </a:rPr>
              <a:t>✓</a:t>
            </a:r>
          </a:p>
          <a:p>
            <a:pPr algn="l"/>
            <a:r>
              <a:rPr lang="ru-RU" sz="2200">
                <a:latin typeface="Arial"/>
              </a:rPr>
              <a:t>чувствительное — за FaceID; платёжные токены к биометрии</a:t>
            </a:r>
          </a:p>
        </p:txBody>
      </p:sp>
      <p:sp>
        <p:nvSpPr>
          <p:cNvPr id="18" name="Карточка"/>
          <p:cNvSpPr/>
          <p:nvPr/>
        </p:nvSpPr>
        <p:spPr>
          <a:xfrm>
            <a:off x="9057388" y="4149300"/>
            <a:ext cx="2618550" cy="2300700"/>
          </a:xfrm>
          <a:prstGeom prst="roundRect">
            <a:avLst>
              <a:gd name="adj" fmla="val 6000"/>
            </a:avLst>
          </a:prstGeom>
          <a:solidFill>
            <a:srgbClr val="F0EDFF"/>
          </a:solidFill>
          <a:ln w="12700">
            <a:solidFill>
              <a:srgbClr val="D9D2F5"/>
            </a:solidFill>
          </a:ln>
        </p:spPr>
        <p:txBody>
          <a:bodyPr wrap="square" rtlCol="0" anchor="ctr" lIns="109728" tIns="82296" rIns="109728" bIns="82296">
            <a:normAutofit fontScale="100000" lnSpcReduction="0"/>
          </a:bodyPr>
          <a:lstStyle/>
          <a:p>
            <a:pPr algn="l"/>
            <a:r>
              <a:rPr lang="ru-RU" sz="2700" b="1">
                <a:solidFill>
                  <a:srgbClr val="3B2C7F"/>
                </a:solidFill>
                <a:latin typeface="Arial"/>
              </a:rPr>
              <a:t>✓</a:t>
            </a:r>
          </a:p>
          <a:p>
            <a:pPr algn="l"/>
            <a:r>
              <a:rPr lang="ru-RU" sz="2200">
                <a:latin typeface="Arial"/>
              </a:rPr>
              <a:t>офлайн-токены оплаты — срок, лимит, подпись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5" name="Рисунок 4">
            <a:extLst>
              <a:ext uri="{FF2B5EF4-FFF2-40B4-BE49-F238E27FC236}">
                <a16:creationId id="{591F2C0E-EF26-314B-A1BF-23A49EA774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515938" y="6527206"/>
            <a:ext cx="1070815" cy="110015"/>
          </a:xfrm>
          <a:prstGeom prst="rect">
            <a:avLst/>
          </a:prstGeom>
        </p:spPr>
      </p:pic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3" name="Picture 2">
            <a:extLst>
              <a:ext uri="{FF2B5EF4-FFF2-40B4-BE49-F238E27FC236}">
                <a16:creationId id="{345C781D-3F17-0F08-8016-FF98CD1D07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6053" y="6536445"/>
            <a:ext cx="959894" cy="91536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0"/>
          </p:nvPr>
        </p:nvSpPr>
        <p:spPr>
          <a:xfrm>
            <a:off x="515937" y="512763"/>
            <a:ext cx="11160125" cy="4200000"/>
          </a:xfrm>
        </p:spPr>
        <p:txBody>
          <a:bodyPr/>
          <a:lstStyle/>
          <a:p>
            <a:r>
              <a:rPr lang="ru-RU"/>
              <a:t>Сеть ненадёжна. Данные живут локально. Пользователю всегда говорим правду о том, что он видит.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 xmlns:a="http://schemas.openxmlformats.org/drawingml/2006/main" xmlns:p="http://schemas.openxmlformats.org/presentationml/2006/main">
      <p:bgPr>
        <a:solidFill>
          <a:srgbClr val="CB8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      <p:nvPicPr>
          <p:cNvPr id="11" name="Рисунок 10">
            <a:extLst>
              <a:ext uri="{FF2B5EF4-FFF2-40B4-BE49-F238E27FC236}">
                <a16:creationId id="{BB7334EC-A7E4-2FEF-44E1-3808E514B7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5938" y="2682240"/>
            <a:ext cx="11170792" cy="3687445"/>
          </a:xfrm>
          <a:prstGeom prst="rect">
            <a:avLst/>
          </a:prstGeom>
        </p:spPr>
      </p:pic>
      <p:sp>
        <p:nvSpPr>
          <p:cNvPr id="10" name="Текст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ru-RU"/>
              <a:t>Спасибо за внимание</a:t>
            </a:r>
          </a:p>
        </p:txBody>
      </p:sp>
      <p:sp>
        <p:nvSpPr>
          <p:cNvPr id="11" name="Контакты"/>
          <p:cNvSpPr txBox="1"/>
          <p:nvPr/>
        </p:nvSpPr>
        <p:spPr>
          <a:xfrm>
            <a:off x="720000" y="1400000"/>
            <a:ext cx="9168000" cy="1200000"/>
          </a:xfrm>
          <a:prstGeom prst="rect">
            <a:avLst/>
          </a:prstGeom>
          <a:noFill/>
        </p:spPr>
        <p:txBody>
          <a:bodyPr wrap="square" rtlCol="0" anchor="t">
            <a:normAutofit fontScale="100000" lnSpcReduction="0"/>
          </a:bodyPr>
          <a:lstStyle/>
          <a:p>
            <a:r>
              <a:rPr lang="ru-RU" sz="1800">
                <a:latin typeface="Arial"/>
              </a:rPr>
              <a:t>Отказоустойчивость — не фича, которую прикручивают в конце, а способ мышления</a:t>
            </a:r>
          </a:p>
          <a:p>
            <a:r>
              <a:rPr lang="ru-RU" sz="1800">
                <a:latin typeface="Arial"/>
              </a:rPr>
              <a:t>Постройте приложение так — и авиарежим перестанет быть проблемой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Y&amp;&amp;Y Colors">
      <a:dk1>
        <a:srgbClr val="000000"/>
      </a:dk1>
      <a:lt1>
        <a:srgbClr val="FFFFFF"/>
      </a:lt1>
      <a:dk2>
        <a:srgbClr val="201B10"/>
      </a:dk2>
      <a:lt2>
        <a:srgbClr val="F3F3F3"/>
      </a:lt2>
      <a:accent1>
        <a:srgbClr val="FCE300"/>
      </a:accent1>
      <a:accent2>
        <a:srgbClr val="FF5F00"/>
      </a:accent2>
      <a:accent3>
        <a:srgbClr val="B6A3FF"/>
      </a:accent3>
      <a:accent4>
        <a:srgbClr val="2AE881"/>
      </a:accent4>
      <a:accent5>
        <a:srgbClr val="FF87FF"/>
      </a:accent5>
      <a:accent6>
        <a:srgbClr val="73CCFE"/>
      </a:accent6>
      <a:hlink>
        <a:srgbClr val="FCE300"/>
      </a:hlink>
      <a:folHlink>
        <a:srgbClr val="FFF9C1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8137</TotalTime>
  <Words>308</Words>
  <Application>Microsoft Macintosh PowerPoint</Application>
  <PresentationFormat>Widescreen</PresentationFormat>
  <Paragraphs>97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Yandex Sans Geo Medium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</dc:title>
  <dc:creator>Kseniya Ovchinnikova</dc:creator>
  <cp:lastModifiedBy>Мария</cp:lastModifiedBy>
  <cp:revision>44</cp:revision>
  <dcterms:created xsi:type="dcterms:W3CDTF">2024-05-12T18:13:47Z</dcterms:created>
  <dcterms:modified xsi:type="dcterms:W3CDTF">2026-04-07T12:38:57Z</dcterms:modified>
</cp:coreProperties>
</file>