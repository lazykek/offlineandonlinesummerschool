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502919" y="1554480"/>
            <a:ext cx="11185857" cy="1630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b="1" sz="3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Back to Offline: как избавиться от интернет-зависимости</a:t>
            </a:r>
          </a:p>
          <a:p>
            <a:pPr>
              <a:defRPr sz="2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Offline-режим, отказоустойчивость и безопасность данных в iOS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502919" y="3977638"/>
            <a:ext cx="11185857" cy="247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defRPr sz="17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Илья Черкасов · мобильный разработчик в Финтехе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0 · Введение и проблема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О себе и том, что у меня болит</a:t>
            </a:r>
          </a:p>
        </p:txBody>
      </p:sp>
      <p:sp>
        <p:nvSpPr>
          <p:cNvPr id="100" name="TextBox 2"/>
          <p:cNvSpPr txBox="1"/>
          <p:nvPr/>
        </p:nvSpPr>
        <p:spPr>
          <a:xfrm>
            <a:off x="502919" y="1298447"/>
            <a:ext cx="11185857" cy="13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0473" indent="-180473">
              <a:spcBef>
                <a:spcPts val="500"/>
              </a:spcBef>
              <a:buSzPct val="100000"/>
              <a:buChar char="•"/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Не люблю стоять в очереди</a:t>
            </a:r>
          </a:p>
          <a:p>
            <a:pPr marL="180473" indent="-180473">
              <a:spcBef>
                <a:spcPts val="500"/>
              </a:spcBef>
              <a:buSzPct val="100000"/>
              <a:buChar char="•"/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Не люблю грузить билеты на концерты несколько раз</a:t>
            </a:r>
          </a:p>
          <a:p>
            <a:pPr marL="180473" indent="-180473">
              <a:spcBef>
                <a:spcPts val="500"/>
              </a:spcBef>
              <a:buSzPct val="100000"/>
              <a:buChar char="•"/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Болит, когда не продают прохладительные напитки</a:t>
            </a:r>
          </a:p>
          <a:p>
            <a:pPr marL="180473" indent="-180473">
              <a:spcBef>
                <a:spcPts val="500"/>
              </a:spcBef>
              <a:buSzPct val="100000"/>
              <a:buChar char="•"/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Болит, когда надо оплачивать через QR в подвале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0 · Введение и проблема</a:t>
            </a:r>
          </a:p>
        </p:txBody>
      </p:sp>
      <p:sp>
        <p:nvSpPr>
          <p:cNvPr id="102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Стартовая точка разработки</a:t>
            </a:r>
          </a:p>
        </p:txBody>
      </p:sp>
      <p:grpSp>
        <p:nvGrpSpPr>
          <p:cNvPr id="107" name="Rounded Rectangle 2"/>
          <p:cNvGrpSpPr/>
          <p:nvPr/>
        </p:nvGrpSpPr>
        <p:grpSpPr>
          <a:xfrm>
            <a:off x="10561319" y="347472"/>
            <a:ext cx="1143001" cy="347473"/>
            <a:chOff x="0" y="0"/>
            <a:chExt cx="1143000" cy="347472"/>
          </a:xfrm>
        </p:grpSpPr>
        <p:sp>
          <p:nvSpPr>
            <p:cNvPr id="105" name="Rounded Rectangle"/>
            <p:cNvSpPr/>
            <p:nvPr/>
          </p:nvSpPr>
          <p:spPr>
            <a:xfrm>
              <a:off x="0" y="0"/>
              <a:ext cx="1143000" cy="347473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6" name="commit 1"/>
            <p:cNvSpPr txBox="1"/>
            <p:nvPr/>
          </p:nvSpPr>
          <p:spPr>
            <a:xfrm>
              <a:off x="23311" y="84836"/>
              <a:ext cx="1096378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commit 1</a:t>
              </a:r>
            </a:p>
          </p:txBody>
        </p:sp>
      </p:grpSp>
      <p:grpSp>
        <p:nvGrpSpPr>
          <p:cNvPr id="110" name="Rounded Rectangle 3"/>
          <p:cNvGrpSpPr/>
          <p:nvPr/>
        </p:nvGrpSpPr>
        <p:grpSpPr>
          <a:xfrm>
            <a:off x="502919" y="1298447"/>
            <a:ext cx="11185857" cy="987553"/>
            <a:chOff x="0" y="0"/>
            <a:chExt cx="11185855" cy="987552"/>
          </a:xfrm>
        </p:grpSpPr>
        <p:sp>
          <p:nvSpPr>
            <p:cNvPr id="108" name="Rounded Rectangle"/>
            <p:cNvSpPr/>
            <p:nvPr/>
          </p:nvSpPr>
          <p:spPr>
            <a:xfrm>
              <a:off x="0" y="0"/>
              <a:ext cx="11185856" cy="987553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9" name="LIVE DEMO…"/>
            <p:cNvSpPr txBox="1"/>
            <p:nvPr/>
          </p:nvSpPr>
          <p:spPr>
            <a:xfrm>
              <a:off x="185748" y="108528"/>
              <a:ext cx="10814359" cy="7704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spAutoFit/>
            </a:bodyPr>
            <a:lstStyle/>
            <a:p>
              <a:pPr>
                <a:spcBef>
                  <a:spcPts val="200"/>
                </a:spcBef>
                <a:defRPr b="1" sz="1400">
                  <a:solidFill>
                    <a:srgbClr val="4FC3F7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LIVE DEMO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E8E8F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Функционал приложения: лента, билет с QR, баланс → выключаем сеть → белый экран / бесконечный спиннер / «Нет соединения, попробуйте позже»</a:t>
              </a:r>
            </a:p>
          </p:txBody>
        </p:sp>
      </p:grpSp>
      <p:sp>
        <p:nvSpPr>
          <p:cNvPr id="111" name="TextBox 4"/>
          <p:cNvSpPr txBox="1"/>
          <p:nvPr/>
        </p:nvSpPr>
        <p:spPr>
          <a:xfrm>
            <a:off x="502919" y="2414016"/>
            <a:ext cx="11185857" cy="1632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«Попробуйте позже» — вежливый отказ пользователю: без сети приложение не умеет ничего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Данные уже могут лежать на телефоне: лента, билет, баланс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Демо-бэкенд с постами: JSONPlaceholder — баланс и билет ходят в один эндпоинт GET /users/1; у ответов честные Cache-Control и ETag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Демо-бэкенд с картинками: Lorem Picsum — отдаёт 302-редирект на CDN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Билет, баланс и QR собираются на клиенте из профиля: payload — в Ticket.qrPayload, QR рисуется на экране</a:t>
            </a:r>
          </a:p>
        </p:txBody>
      </p:sp>
      <p:sp>
        <p:nvSpPr>
          <p:cNvPr id="112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0 · Введение и проблема</a:t>
            </a:r>
          </a:p>
        </p:txBody>
      </p:sp>
      <p:sp>
        <p:nvSpPr>
          <p:cNvPr id="113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 txBox="1"/>
          <p:nvPr/>
        </p:nvSpPr>
        <p:spPr>
          <a:xfrm>
            <a:off x="502919" y="1828800"/>
            <a:ext cx="11185857" cy="102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Сеть — это ненадёжный внешний ресурс,</a:t>
            </a:r>
          </a:p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а не данность</a:t>
            </a:r>
          </a:p>
        </p:txBody>
      </p:sp>
      <p:sp>
        <p:nvSpPr>
          <p:cNvPr id="116" name="TextBox 2"/>
          <p:cNvSpPr txBox="1"/>
          <p:nvPr/>
        </p:nvSpPr>
        <p:spPr>
          <a:xfrm>
            <a:off x="1005839" y="3154679"/>
            <a:ext cx="10180017" cy="10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Метро · самолёт · лифт · роуминг · переполненный стадион · плохой Wi-Fi в кафе</a:t>
            </a:r>
          </a:p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Сеть отваливается постоянно — это нормальное состояние, а не исключение</a:t>
            </a:r>
          </a:p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Проектируем от «сеть обычно есть» → получаем приложение, которое «обычно работает»</a:t>
            </a:r>
          </a:p>
        </p:txBody>
      </p:sp>
      <p:sp>
        <p:nvSpPr>
          <p:cNvPr id="117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0 · Введение и проблема</a:t>
            </a:r>
          </a:p>
        </p:txBody>
      </p:sp>
      <p:sp>
        <p:nvSpPr>
          <p:cNvPr id="118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Роудмап развития приложения</a:t>
            </a:r>
          </a:p>
        </p:txBody>
      </p:sp>
      <p:grpSp>
        <p:nvGrpSpPr>
          <p:cNvPr id="123" name="Rounded Rectangle 2"/>
          <p:cNvGrpSpPr/>
          <p:nvPr/>
        </p:nvGrpSpPr>
        <p:grpSpPr>
          <a:xfrm>
            <a:off x="502919" y="1298447"/>
            <a:ext cx="11185857" cy="443485"/>
            <a:chOff x="0" y="0"/>
            <a:chExt cx="11185855" cy="443483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11185856" cy="443484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Online-Only   ──▶   Кэш Для Чтения   ──▶   Offline-First"/>
            <p:cNvSpPr txBox="1"/>
            <p:nvPr/>
          </p:nvSpPr>
          <p:spPr>
            <a:xfrm>
              <a:off x="113088" y="29542"/>
              <a:ext cx="6580195" cy="384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>
              <a:lvl1pPr>
                <a:spcBef>
                  <a:spcPts val="100"/>
                </a:spcBef>
                <a:defRPr b="1" sz="15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Online-Only   ──▶   Кэш Для Чтения   ──▶   Offline-First</a:t>
              </a:r>
            </a:p>
          </p:txBody>
        </p:sp>
      </p:grpSp>
      <p:sp>
        <p:nvSpPr>
          <p:cNvPr id="124" name="TextBox 3"/>
          <p:cNvSpPr txBox="1"/>
          <p:nvPr/>
        </p:nvSpPr>
        <p:spPr>
          <a:xfrm>
            <a:off x="502919" y="1869948"/>
            <a:ext cx="11185857" cy="1149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1"/>
              <a:t>Отказоустойчивость</a:t>
            </a:r>
            <a:r>
              <a:t> — не галочка, а ступени: насколько приложение переживает пропадание сети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1"/>
              <a:t>Online-Only</a:t>
            </a:r>
            <a:r>
              <a:t> — без интернета белый экран или ошибка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1"/>
              <a:t>Кэш Для Чтения</a:t>
            </a:r>
            <a:r>
              <a:t> — показываем уже загруженное, но не полагаемся как на данные пользователя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1"/>
              <a:t>Offline-First</a:t>
            </a:r>
            <a:r>
              <a:t> — локальные данные = источник правды, сеть только синхронизирует</a:t>
            </a:r>
          </a:p>
        </p:txBody>
      </p:sp>
      <p:sp>
        <p:nvSpPr>
          <p:cNvPr id="125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0 · Введение и проблема</a:t>
            </a:r>
          </a:p>
        </p:txBody>
      </p:sp>
      <p:sp>
        <p:nvSpPr>
          <p:cNvPr id="126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URLCache</a:t>
            </a:r>
          </a:p>
        </p:txBody>
      </p:sp>
      <p:grpSp>
        <p:nvGrpSpPr>
          <p:cNvPr id="131" name="Rounded Rectangle 2"/>
          <p:cNvGrpSpPr/>
          <p:nvPr/>
        </p:nvGrpSpPr>
        <p:grpSpPr>
          <a:xfrm>
            <a:off x="10561319" y="347472"/>
            <a:ext cx="1143001" cy="347473"/>
            <a:chOff x="0" y="0"/>
            <a:chExt cx="1143000" cy="347472"/>
          </a:xfrm>
        </p:grpSpPr>
        <p:sp>
          <p:nvSpPr>
            <p:cNvPr id="129" name="Rounded Rectangle"/>
            <p:cNvSpPr/>
            <p:nvPr/>
          </p:nvSpPr>
          <p:spPr>
            <a:xfrm>
              <a:off x="0" y="0"/>
              <a:ext cx="1143000" cy="347473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0" name="commit 2"/>
            <p:cNvSpPr txBox="1"/>
            <p:nvPr/>
          </p:nvSpPr>
          <p:spPr>
            <a:xfrm>
              <a:off x="23311" y="84836"/>
              <a:ext cx="1096378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commit 2</a:t>
              </a:r>
            </a:p>
          </p:txBody>
        </p:sp>
      </p:grpSp>
      <p:sp>
        <p:nvSpPr>
          <p:cNvPr id="132" name="TextBox 3"/>
          <p:cNvSpPr txBox="1"/>
          <p:nvPr/>
        </p:nvSpPr>
        <p:spPr>
          <a:xfrm>
            <a:off x="502919" y="1298447"/>
            <a:ext cx="11185857" cy="1708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Прослойка между кодом и сетью: система сама решает — использовать сеть или сохранённый ответ</a:t>
            </a:r>
          </a:p>
          <a:p>
            <a:pPr marL="160421" indent="-160421">
              <a:spcBef>
                <a:spcPts val="500"/>
              </a:spcBef>
              <a:buSzPct val="100000"/>
              <a:buChar char="•"/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Memory — быстрый кэш в RAM, живёт пока запущено приложение</a:t>
            </a:r>
          </a:p>
          <a:p>
            <a:pPr marL="160421" indent="-160421">
              <a:spcBef>
                <a:spcPts val="500"/>
              </a:spcBef>
              <a:buSzPct val="100000"/>
              <a:buChar char="•"/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Disk — переживает перезапуск, лежит в Library/Caches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Library/Caches ОС вправе вычистить под нехватку места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Старые записи вытесняются автоматически при превышении ёмкости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Кэшем управляет не клиент — сервер, через HTTP-заголовки</a:t>
            </a:r>
          </a:p>
        </p:txBody>
      </p:sp>
      <p:grpSp>
        <p:nvGrpSpPr>
          <p:cNvPr id="135" name="Rounded Rectangle 4"/>
          <p:cNvGrpSpPr/>
          <p:nvPr/>
        </p:nvGrpSpPr>
        <p:grpSpPr>
          <a:xfrm>
            <a:off x="502919" y="3666742"/>
            <a:ext cx="11185857" cy="1755649"/>
            <a:chOff x="0" y="0"/>
            <a:chExt cx="11185855" cy="1755648"/>
          </a:xfrm>
        </p:grpSpPr>
        <p:sp>
          <p:nvSpPr>
            <p:cNvPr id="133" name="Rounded Rectangle"/>
            <p:cNvSpPr/>
            <p:nvPr/>
          </p:nvSpPr>
          <p:spPr>
            <a:xfrm>
              <a:off x="0" y="0"/>
              <a:ext cx="11185856" cy="1755649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let cache = URLCache(…"/>
            <p:cNvSpPr txBox="1"/>
            <p:nvPr/>
          </p:nvSpPr>
          <p:spPr>
            <a:xfrm>
              <a:off x="177143" y="49022"/>
              <a:ext cx="7315704" cy="16576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let cache = URLCache(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memoryCapacity: 16 * 1024 * 1024,   // RAM: живёт пока запущено приложение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diskCapacity: 128 * 1024 * 1024,    // диск: Library/Caches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diskPath: "api-cache"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let config = URLSessionConfiguration.default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config.urlCache = cache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config.requestCachePolicy = .useProtocolCachePolicy</a:t>
              </a:r>
            </a:p>
          </p:txBody>
        </p:sp>
      </p:grpSp>
      <p:sp>
        <p:nvSpPr>
          <p:cNvPr id="136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37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502919" y="292608"/>
            <a:ext cx="990569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Свежесть и валидация кэша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502919" y="1298447"/>
            <a:ext cx="11185857" cy="755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1. «Ответ ещё свежий?» — да → из кэша мгновенно: ноль трафика, минимум задержки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2. «Несвежий (stale) — можно дёшево перепроверить?» — да → условный запрос: «не менялось» или новая версия</a:t>
            </a:r>
          </a:p>
        </p:txBody>
      </p:sp>
      <p:graphicFrame>
        <p:nvGraphicFramePr>
          <p:cNvPr id="141" name="Table 3"/>
          <p:cNvGraphicFramePr/>
          <p:nvPr/>
        </p:nvGraphicFramePr>
        <p:xfrm>
          <a:off x="502919" y="2377439"/>
          <a:ext cx="11185855" cy="202996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7121"/>
                <a:gridCol w="4217617"/>
                <a:gridCol w="4951116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Механизм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Заголовки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Смысл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Свежесть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Cache-Control: max-age=N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ответ свежий N секунд — в сеть не ходим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Свежесть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no-store / no-cache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 сохранять вообще / отдавать только после перепроверки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Валидация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ETag ↔ If-None-Match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«отпечаток» версии ресурса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Валидация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Last-Modified ↔ If-Modified-Since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 же по дате — проще, но грубее (1 с)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Ответ сервера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304 Not Modified / 200 + тело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«не менялось, бери из кэша» / новая версия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4"/>
          <p:cNvSpPr txBox="1"/>
          <p:nvPr/>
        </p:nvSpPr>
        <p:spPr>
          <a:xfrm>
            <a:off x="502919" y="4590286"/>
            <a:ext cx="11185857" cy="222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defRPr sz="16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Условные заголовки (If-None-Match и др.) URLSession подставляет сам — вручную писать не нужно</a:t>
            </a:r>
          </a:p>
        </p:txBody>
      </p:sp>
      <p:sp>
        <p:nvSpPr>
          <p:cNvPr id="143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44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 txBox="1"/>
          <p:nvPr/>
        </p:nvSpPr>
        <p:spPr>
          <a:xfrm>
            <a:off x="502919" y="292608"/>
            <a:ext cx="990569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Стандарт HTTP + дерево решений URLCache</a:t>
            </a:r>
          </a:p>
        </p:txBody>
      </p:sp>
      <p:sp>
        <p:nvSpPr>
          <p:cNvPr id="147" name="TextBox 2"/>
          <p:cNvSpPr txBox="1"/>
          <p:nvPr/>
        </p:nvSpPr>
        <p:spPr>
          <a:xfrm>
            <a:off x="502919" y="1298447"/>
            <a:ext cx="11185857" cy="515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Такое поведение - не фишка URLSession, а протокол HTTP: так же работают браузер, curl, OkHttp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RFC 9110 «HTTP Semantics» + RFC 9111 «HTTP Caching»</a:t>
            </a:r>
          </a:p>
        </p:txBody>
      </p:sp>
      <p:grpSp>
        <p:nvGrpSpPr>
          <p:cNvPr id="150" name="Rounded Rectangle 3"/>
          <p:cNvGrpSpPr/>
          <p:nvPr/>
        </p:nvGrpSpPr>
        <p:grpSpPr>
          <a:xfrm>
            <a:off x="502919" y="2103120"/>
            <a:ext cx="11185857" cy="1568196"/>
            <a:chOff x="0" y="0"/>
            <a:chExt cx="11185855" cy="1568194"/>
          </a:xfrm>
        </p:grpSpPr>
        <p:sp>
          <p:nvSpPr>
            <p:cNvPr id="148" name="Rounded Rectangle"/>
            <p:cNvSpPr/>
            <p:nvPr/>
          </p:nvSpPr>
          <p:spPr>
            <a:xfrm>
              <a:off x="0" y="0"/>
              <a:ext cx="11185856" cy="1568195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Есть ли в кэше ответ на этот запрос?…"/>
            <p:cNvSpPr txBox="1"/>
            <p:nvPr/>
          </p:nvSpPr>
          <p:spPr>
            <a:xfrm>
              <a:off x="167992" y="50545"/>
              <a:ext cx="7132198" cy="1467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Есть ли в кэше ответ на этот запрос?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├─ Нет → идём в сеть, сохраняем (если заголовки разрешают)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└─ Да → он ещё свежий (max-age / Expires)?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├─ Да → из кэша, в сеть НЕ идём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└─ Нет (stale) → есть ETag / Last-Modified?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        ├─ Да → условный запрос → 304: тело из кэша · 200: обновляем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        └─ Нет → полный запрос в сеть</a:t>
              </a:r>
            </a:p>
          </p:txBody>
        </p:sp>
      </p:grpSp>
      <p:sp>
        <p:nvSpPr>
          <p:cNvPr id="151" name="TextBox 4"/>
          <p:cNvSpPr txBox="1"/>
          <p:nvPr/>
        </p:nvSpPr>
        <p:spPr>
          <a:xfrm>
            <a:off x="502919" y="3799330"/>
            <a:ext cx="11185857" cy="1003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Пример: GET /posts → max-age=43200 + ETag. Через 5 минут — из кэша; через 13 часов — If-None-Match → 304 → тело из кэша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Сети нет совсем → URLSession бросает ошибку (stale, перепроверить не у кого) — нужен ручной офлайн-фолбэк</a:t>
            </a:r>
          </a:p>
        </p:txBody>
      </p:sp>
      <p:sp>
        <p:nvSpPr>
          <p:cNvPr id="152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53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RequestCachePolicy — 4 политики</a:t>
            </a:r>
          </a:p>
        </p:txBody>
      </p:sp>
      <p:graphicFrame>
        <p:nvGraphicFramePr>
          <p:cNvPr id="156" name="Table 2"/>
          <p:cNvGraphicFramePr/>
          <p:nvPr/>
        </p:nvGraphicFramePr>
        <p:xfrm>
          <a:off x="502919" y="1298447"/>
          <a:ext cx="11185855" cy="16916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584366"/>
                <a:gridCol w="6601488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Политика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Поведение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.useProtocolCachePolicy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 HTTP-заголовкам сервера — наш дефолт, пока есть сеть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.reloadIgnoringLocalCacheData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всегда сеть, кэш игнорируется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.returnCacheDataElseLoad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сначала кэш, сеть — если пусто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.returnCacheDataDontLoad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только кэш, в сеть не ходить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grpSp>
        <p:nvGrpSpPr>
          <p:cNvPr id="159" name="Rounded Rectangle 3"/>
          <p:cNvGrpSpPr/>
          <p:nvPr/>
        </p:nvGrpSpPr>
        <p:grpSpPr>
          <a:xfrm>
            <a:off x="502919" y="3172967"/>
            <a:ext cx="11185857" cy="2318006"/>
            <a:chOff x="0" y="0"/>
            <a:chExt cx="11185855" cy="2318004"/>
          </a:xfrm>
        </p:grpSpPr>
        <p:sp>
          <p:nvSpPr>
            <p:cNvPr id="157" name="Rounded Rectangle"/>
            <p:cNvSpPr/>
            <p:nvPr/>
          </p:nvSpPr>
          <p:spPr>
            <a:xfrm>
              <a:off x="0" y="0"/>
              <a:ext cx="11185856" cy="2318005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8" name="do {…"/>
            <p:cNvSpPr txBox="1"/>
            <p:nvPr/>
          </p:nvSpPr>
          <p:spPr>
            <a:xfrm>
              <a:off x="204595" y="44450"/>
              <a:ext cx="7682713" cy="2229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do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let (data, response) = try await session.data(for: request)  // сеть + автокэш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return Fetched(value: try decode(data), dataSource: .network)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 catch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// офлайн: достаём последний ответ, даже если по HTTP он протух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if let cached = cache.cachedResponse(for: request),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let value = try? decode(cached.data) as T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return Fetched(value: value, dataSource: .offlineCache)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throw APIError.transport(error)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</a:t>
              </a:r>
            </a:p>
          </p:txBody>
        </p:sp>
      </p:grpSp>
      <p:sp>
        <p:nvSpPr>
          <p:cNvPr id="160" name="TextBox 4"/>
          <p:cNvSpPr txBox="1"/>
          <p:nvPr/>
        </p:nvSpPr>
        <p:spPr>
          <a:xfrm>
            <a:off x="502919" y="5618988"/>
            <a:ext cx="11185857" cy="22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«Данные от вчера» лучше белого экрана; источник данных показываем в UI</a:t>
            </a:r>
          </a:p>
        </p:txBody>
      </p:sp>
      <p:sp>
        <p:nvSpPr>
          <p:cNvPr id="161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62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А что с картинками?</a:t>
            </a:r>
          </a:p>
        </p:txBody>
      </p:sp>
      <p:sp>
        <p:nvSpPr>
          <p:cNvPr id="165" name="TextBox 2"/>
          <p:cNvSpPr txBox="1"/>
          <p:nvPr/>
        </p:nvSpPr>
        <p:spPr>
          <a:xfrm>
            <a:off x="502919" y="1298447"/>
            <a:ext cx="11185857" cy="15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Картинок много и они тяжёлые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Аватары, обложки, QR/штрихкоды билетов должны показываться мгновенно и офлайн</a:t>
            </a:r>
          </a:p>
          <a:p>
            <a:pPr>
              <a:spcBef>
                <a:spcPts val="500"/>
              </a:spcBef>
              <a:defRPr b="1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Базовый инструмент для памяти — NSCache: автоматически чистится под давлением памяти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Это не Dictionary: система сама выкинет картинки, если приложению не хватает RAM — руками чистить не надо</a:t>
            </a:r>
          </a:p>
        </p:txBody>
      </p:sp>
      <p:sp>
        <p:nvSpPr>
          <p:cNvPr id="166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67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 txBox="1"/>
          <p:nvPr/>
        </p:nvSpPr>
        <p:spPr>
          <a:xfrm>
            <a:off x="502919" y="292608"/>
            <a:ext cx="9905697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Подводный камень с редиректами</a:t>
            </a:r>
          </a:p>
        </p:txBody>
      </p:sp>
      <p:sp>
        <p:nvSpPr>
          <p:cNvPr id="170" name="TextBox 2"/>
          <p:cNvSpPr txBox="1"/>
          <p:nvPr/>
        </p:nvSpPr>
        <p:spPr>
          <a:xfrm>
            <a:off x="502919" y="1298447"/>
            <a:ext cx="11185857" cy="819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Многие CDN (и picsum.photos в демо) отдают картинку через 302 на финальный URL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URLSession следует редиректу прозрачно: в коде — исходный адрес, внутри — два запроса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URLCache сохраняет ответ под финальным URL, а ищем мы по исходному → cache miss</a:t>
            </a:r>
          </a:p>
        </p:txBody>
      </p:sp>
      <p:grpSp>
        <p:nvGrpSpPr>
          <p:cNvPr id="173" name="Rounded Rectangle 3"/>
          <p:cNvGrpSpPr/>
          <p:nvPr/>
        </p:nvGrpSpPr>
        <p:grpSpPr>
          <a:xfrm>
            <a:off x="502919" y="2441446"/>
            <a:ext cx="11185857" cy="1005841"/>
            <a:chOff x="0" y="0"/>
            <a:chExt cx="11185855" cy="1005839"/>
          </a:xfrm>
        </p:grpSpPr>
        <p:sp>
          <p:nvSpPr>
            <p:cNvPr id="171" name="Rounded Rectangle"/>
            <p:cNvSpPr/>
            <p:nvPr/>
          </p:nvSpPr>
          <p:spPr>
            <a:xfrm>
              <a:off x="0" y="0"/>
              <a:ext cx="11185856" cy="1005840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GET picsum.photos/seed/42/200/120 → 302 → GET fastly.../237.jpg → 200 + JPEG…"/>
            <p:cNvSpPr txBox="1"/>
            <p:nvPr/>
          </p:nvSpPr>
          <p:spPr>
            <a:xfrm>
              <a:off x="140540" y="46869"/>
              <a:ext cx="7132198" cy="912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GET picsum.photos/seed/42/200/120 → 302 → GET fastly.../237.jpg → 200 + JPEG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Сохранили под:  fastly.picsum.photos/.../237.jpg     JPEG на диске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✓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Ищем по:        picsum.photos/seed/42/...            промах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✗</a:t>
              </a:r>
            </a:p>
          </p:txBody>
        </p:sp>
      </p:grpSp>
      <p:sp>
        <p:nvSpPr>
          <p:cNvPr id="174" name="TextBox 4"/>
          <p:cNvSpPr txBox="1"/>
          <p:nvPr/>
        </p:nvSpPr>
        <p:spPr>
          <a:xfrm>
            <a:off x="502919" y="3575303"/>
            <a:ext cx="11185857" cy="22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defRPr sz="16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Аналогия: заказали на «склад A», курьер перенаправил на «склад B» — приходите на A: «у нас нет»</a:t>
            </a:r>
          </a:p>
        </p:txBody>
      </p:sp>
      <p:sp>
        <p:nvSpPr>
          <p:cNvPr id="175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76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Решение — файловый кэш картинок</a:t>
            </a:r>
          </a:p>
        </p:txBody>
      </p:sp>
      <p:sp>
        <p:nvSpPr>
          <p:cNvPr id="179" name="TextBox 2"/>
          <p:cNvSpPr txBox="1"/>
          <p:nvPr/>
        </p:nvSpPr>
        <p:spPr>
          <a:xfrm>
            <a:off x="502919" y="1298447"/>
            <a:ext cx="11185857" cy="1117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Для картинок отключаем URLCache и делаем свой файловый кэш: ключ = SHA256 (исходный URL)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Индексируем по адресу, который видит приложение, а не по тому, куда увёл редирект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Три уровня: NSCache (RAM) → диск (Library/Caches) → сеть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clearCache() чистит RAM и Library/Caches разом — понадобится при логауте</a:t>
            </a:r>
          </a:p>
        </p:txBody>
      </p:sp>
      <p:grpSp>
        <p:nvGrpSpPr>
          <p:cNvPr id="182" name="Rounded Rectangle 3"/>
          <p:cNvGrpSpPr/>
          <p:nvPr/>
        </p:nvGrpSpPr>
        <p:grpSpPr>
          <a:xfrm>
            <a:off x="502919" y="2779776"/>
            <a:ext cx="11185857" cy="3067812"/>
            <a:chOff x="0" y="0"/>
            <a:chExt cx="11185855" cy="3067811"/>
          </a:xfrm>
        </p:grpSpPr>
        <p:sp>
          <p:nvSpPr>
            <p:cNvPr id="180" name="Rounded Rectangle"/>
            <p:cNvSpPr/>
            <p:nvPr/>
          </p:nvSpPr>
          <p:spPr>
            <a:xfrm>
              <a:off x="0" y="0"/>
              <a:ext cx="11185856" cy="3067812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1" name="final class ImageLoader {…"/>
            <p:cNvSpPr txBox="1"/>
            <p:nvPr/>
          </p:nvSpPr>
          <p:spPr>
            <a:xfrm>
              <a:off x="241197" y="38353"/>
              <a:ext cx="7590961" cy="2991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final class ImageLoader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private let memory = NSCache&lt;NSURL, UIImage&gt;()   // L1: RAM, авто-эвикция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let diskCacheURL: URL                            // L2: Library/Caches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func image(for url: URL) async throws -&gt; UIImage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if let hit = memory.object(forKey: url as NSURL) { return hit }     // L1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if let image = loadFromDisk(for: url) {                             // L2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    memory.setObject(image, forKey: url as NSURL); return image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let (data, _) = try await session.data(from: url)                   // L3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let image = UIImage(data: data)!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saveToDisk(data, for: url)   // ключ файла = SHA256(исходного URL)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memory.setObject(image, forKey: url as NSURL)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return image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</a:t>
              </a:r>
            </a:p>
          </p:txBody>
        </p:sp>
      </p:grpSp>
      <p:sp>
        <p:nvSpPr>
          <p:cNvPr id="183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84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CacheManager</a:t>
            </a:r>
          </a:p>
        </p:txBody>
      </p:sp>
      <p:grpSp>
        <p:nvGrpSpPr>
          <p:cNvPr id="189" name="Rounded Rectangle 2"/>
          <p:cNvGrpSpPr/>
          <p:nvPr/>
        </p:nvGrpSpPr>
        <p:grpSpPr>
          <a:xfrm>
            <a:off x="10561319" y="347472"/>
            <a:ext cx="1143001" cy="347473"/>
            <a:chOff x="0" y="0"/>
            <a:chExt cx="1143000" cy="347472"/>
          </a:xfrm>
        </p:grpSpPr>
        <p:sp>
          <p:nvSpPr>
            <p:cNvPr id="187" name="Rounded Rectangle"/>
            <p:cNvSpPr/>
            <p:nvPr/>
          </p:nvSpPr>
          <p:spPr>
            <a:xfrm>
              <a:off x="0" y="0"/>
              <a:ext cx="1143000" cy="347473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8" name="commit 3"/>
            <p:cNvSpPr txBox="1"/>
            <p:nvPr/>
          </p:nvSpPr>
          <p:spPr>
            <a:xfrm>
              <a:off x="23311" y="84836"/>
              <a:ext cx="1096378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commit 3</a:t>
              </a:r>
            </a:p>
          </p:txBody>
        </p:sp>
      </p:grpSp>
      <p:sp>
        <p:nvSpPr>
          <p:cNvPr id="190" name="TextBox 3"/>
          <p:cNvSpPr txBox="1"/>
          <p:nvPr/>
        </p:nvSpPr>
        <p:spPr>
          <a:xfrm>
            <a:off x="502919" y="1298447"/>
            <a:ext cx="11185857" cy="652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Мы научились показывать данные в офлайн. Но как не показать протухшее и не допустить утечки чужих данных?</a:t>
            </a:r>
          </a:p>
        </p:txBody>
      </p:sp>
      <p:sp>
        <p:nvSpPr>
          <p:cNvPr id="191" name="TextBox 4"/>
          <p:cNvSpPr txBox="1"/>
          <p:nvPr/>
        </p:nvSpPr>
        <p:spPr>
          <a:xfrm>
            <a:off x="502919" y="2212848"/>
            <a:ext cx="11185857" cy="2159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CacheManager — единая точка управления жизненным циклом кэша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1. TTL — срок жизни записи задаёт приложение (в URLCache — сервер): второй, наш уровень контроля актуальности поверх HTTP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2. Версия схемы — константа cacheSchemaVersion: сменили формат модели → весь старый кэш сброшен на старте. Одна строчка против класса багов после обновления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3. Очистка по событию — логаут / смена пользователя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Паттерн cache-then-network: кэш мгновенно, свежее — фоном (по аналогии с stale-while-revalidate)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Честно сообщаем актуальность данных</a:t>
            </a:r>
          </a:p>
        </p:txBody>
      </p:sp>
      <p:sp>
        <p:nvSpPr>
          <p:cNvPr id="192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193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Очистка при логауте</a:t>
            </a:r>
          </a:p>
        </p:txBody>
      </p:sp>
      <p:sp>
        <p:nvSpPr>
          <p:cNvPr id="196" name="TextBox 2"/>
          <p:cNvSpPr txBox="1"/>
          <p:nvPr/>
        </p:nvSpPr>
        <p:spPr>
          <a:xfrm>
            <a:off x="502919" y="1298447"/>
            <a:ext cx="11185857" cy="106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Корнер кейс: пользователь A залогинился → лента закэшировалась → A вышел → зашёл B → видит данные A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Семейный телефон, рабочий планшет, демо-устройство — в проде находят постоянно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Единая точка: один clearAll() чистит все слои — HTTP-ответы, TTL-метаданные, картинки в памяти и на диске</a:t>
            </a:r>
          </a:p>
        </p:txBody>
      </p:sp>
      <p:grpSp>
        <p:nvGrpSpPr>
          <p:cNvPr id="199" name="Rounded Rectangle 3"/>
          <p:cNvGrpSpPr/>
          <p:nvPr/>
        </p:nvGrpSpPr>
        <p:grpSpPr>
          <a:xfrm>
            <a:off x="496722" y="2683187"/>
            <a:ext cx="11185856" cy="2505457"/>
            <a:chOff x="0" y="0"/>
            <a:chExt cx="11185855" cy="2505455"/>
          </a:xfrm>
        </p:grpSpPr>
        <p:sp>
          <p:nvSpPr>
            <p:cNvPr id="197" name="Rounded Rectangle"/>
            <p:cNvSpPr/>
            <p:nvPr/>
          </p:nvSpPr>
          <p:spPr>
            <a:xfrm>
              <a:off x="0" y="0"/>
              <a:ext cx="11185856" cy="2505456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8" name="// CacheManager — единая точка очистки всех слоёв кэша…"/>
            <p:cNvSpPr txBox="1"/>
            <p:nvPr/>
          </p:nvSpPr>
          <p:spPr>
            <a:xfrm>
              <a:off x="213745" y="42926"/>
              <a:ext cx="8049724" cy="24196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// CacheManager — единая точка очистки всех слоёв кэша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func clearAll()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urlCache.removeAllCachedResponses()                        // HTTP-ответы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UserDefaults.standard.removeObject(forKey: timestampKey)   // TTL-метаданные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ImageLoader.shared.clearCache()                            // картинки: RAM + диск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// SessionStore.logout() — дёргает единую точку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func logout()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currentUser = nil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CacheManager.shared.clearAll()        // ← чужие данные не утекут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</a:t>
              </a:r>
            </a:p>
          </p:txBody>
        </p:sp>
      </p:grpSp>
      <p:sp>
        <p:nvSpPr>
          <p:cNvPr id="200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201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Итог блока 1</a:t>
            </a:r>
          </a:p>
        </p:txBody>
      </p:sp>
      <p:sp>
        <p:nvSpPr>
          <p:cNvPr id="204" name="TextBox 2"/>
          <p:cNvSpPr txBox="1"/>
          <p:nvPr/>
        </p:nvSpPr>
        <p:spPr>
          <a:xfrm>
            <a:off x="502919" y="1298447"/>
            <a:ext cx="11185857" cy="67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Кэш без стратегии инвалидации — это не оптимизация,</a:t>
            </a:r>
          </a:p>
          <a:p>
            <a: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а отложенный баг или утечка</a:t>
            </a:r>
          </a:p>
        </p:txBody>
      </p:sp>
      <p:graphicFrame>
        <p:nvGraphicFramePr>
          <p:cNvPr id="205" name="Table 3"/>
          <p:cNvGraphicFramePr/>
          <p:nvPr/>
        </p:nvGraphicFramePr>
        <p:xfrm>
          <a:off x="502919" y="2176272"/>
          <a:ext cx="11185855" cy="13533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50868"/>
                <a:gridCol w="7334985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Механизм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Закрывает риск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TTL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протухшие данные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Версия схемы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несовместимый формат после обновления из App Store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Очистка по событию (логаут)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чужие данные у пользователя B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206" name="TextBox 4"/>
          <p:cNvSpPr txBox="1"/>
          <p:nvPr/>
        </p:nvSpPr>
        <p:spPr>
          <a:xfrm>
            <a:off x="502919" y="3712464"/>
            <a:ext cx="11185857" cy="76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Убираем любой механизм из трех — получим баги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У некоторых данных свой срок годности, не совпадающий со сроком жизни кэша — платёжный токен, билет, баланс</a:t>
            </a:r>
          </a:p>
        </p:txBody>
      </p:sp>
      <p:sp>
        <p:nvSpPr>
          <p:cNvPr id="207" name="TextBox 6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1 · Кэширование и инвалидация</a:t>
            </a:r>
          </a:p>
        </p:txBody>
      </p:sp>
      <p:sp>
        <p:nvSpPr>
          <p:cNvPr id="208" name="TextBox 7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14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Кэш vs источник правды</a:t>
            </a:r>
          </a:p>
        </p:txBody>
      </p:sp>
      <p:grpSp>
        <p:nvGrpSpPr>
          <p:cNvPr id="213" name="Rounded Rectangle 2"/>
          <p:cNvGrpSpPr/>
          <p:nvPr/>
        </p:nvGrpSpPr>
        <p:grpSpPr>
          <a:xfrm>
            <a:off x="10561319" y="347472"/>
            <a:ext cx="1143001" cy="347473"/>
            <a:chOff x="0" y="0"/>
            <a:chExt cx="1143000" cy="347472"/>
          </a:xfrm>
        </p:grpSpPr>
        <p:sp>
          <p:nvSpPr>
            <p:cNvPr id="211" name="Rounded Rectangle"/>
            <p:cNvSpPr/>
            <p:nvPr/>
          </p:nvSpPr>
          <p:spPr>
            <a:xfrm>
              <a:off x="0" y="0"/>
              <a:ext cx="1143000" cy="347473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2" name="commit 4"/>
            <p:cNvSpPr txBox="1"/>
            <p:nvPr/>
          </p:nvSpPr>
          <p:spPr>
            <a:xfrm>
              <a:off x="23311" y="84836"/>
              <a:ext cx="1096378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commit 4</a:t>
              </a:r>
            </a:p>
          </p:txBody>
        </p:sp>
      </p:grpSp>
      <p:sp>
        <p:nvSpPr>
          <p:cNvPr id="214" name="TextBox 3"/>
          <p:cNvSpPr txBox="1"/>
          <p:nvPr/>
        </p:nvSpPr>
        <p:spPr>
          <a:xfrm>
            <a:off x="502919" y="1298447"/>
            <a:ext cx="11185857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Переворачиваем парадигму: локальное хранилище — источник правды, сеть лишь синхронизирует его</a:t>
            </a:r>
          </a:p>
        </p:txBody>
      </p:sp>
      <p:graphicFrame>
        <p:nvGraphicFramePr>
          <p:cNvPr id="215" name="Table 4"/>
          <p:cNvGraphicFramePr/>
          <p:nvPr/>
        </p:nvGraphicFramePr>
        <p:xfrm>
          <a:off x="502919" y="1764792"/>
          <a:ext cx="11185854" cy="16916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33746"/>
                <a:gridCol w="4584366"/>
                <a:gridCol w="4767741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Кэш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Источник правды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Роль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фолбэк «если сеть упала»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первоисточник, читается всегда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Природа данных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производные — можно потерять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данные пользователя — терять нельзя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Папка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Library/Caches — ОС может удалить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Application Support — ОС не трогает, бэкапится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Поток данных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сеть → показать; кэш при ошибке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диск → показать сразу; сеть обновляет фоном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216" name="TextBox 5"/>
          <p:cNvSpPr txBox="1"/>
          <p:nvPr/>
        </p:nvSpPr>
        <p:spPr>
          <a:xfrm>
            <a:off x="502919" y="3639311"/>
            <a:ext cx="11185857" cy="476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Для билета фолбэк-кэш недопустим: ОС вычистит Caches под нехватку места — пассажир останется без QR на стойке</a:t>
            </a:r>
          </a:p>
        </p:txBody>
      </p:sp>
      <p:sp>
        <p:nvSpPr>
          <p:cNvPr id="217" name="TextBox 6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18" name="TextBox 7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15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Папки песочницы</a:t>
            </a:r>
          </a:p>
        </p:txBody>
      </p:sp>
      <p:graphicFrame>
        <p:nvGraphicFramePr>
          <p:cNvPr id="221" name="Table 2"/>
          <p:cNvGraphicFramePr/>
          <p:nvPr/>
        </p:nvGraphicFramePr>
        <p:xfrm>
          <a:off x="502919" y="1298447"/>
          <a:ext cx="11185854" cy="16916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117369"/>
                <a:gridCol w="4767741"/>
                <a:gridCol w="1833746"/>
                <a:gridCol w="1466997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Папка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Назначение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ОС удаляет?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 бэкапе?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Documents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пользовательские файлы, видны в Finder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Application Support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данные приложения — билет здесь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Library/Caches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URLCache, картинки — можно перекачать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tmp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временные файлы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222" name="TextBox 3"/>
          <p:cNvSpPr txBox="1"/>
          <p:nvPr/>
        </p:nvSpPr>
        <p:spPr>
          <a:xfrm>
            <a:off x="502919" y="3172967"/>
            <a:ext cx="11185857" cy="533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Правило: можно перекачать из сети → Caches; нельзя потерять → Application Support / Documents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Один билет → простой generic-стор: Codable + JSON-файл; много данных → SQLite / Core Data / SwiftData</a:t>
            </a:r>
          </a:p>
        </p:txBody>
      </p:sp>
      <p:grpSp>
        <p:nvGrpSpPr>
          <p:cNvPr id="225" name="Rounded Rectangle 4"/>
          <p:cNvGrpSpPr/>
          <p:nvPr/>
        </p:nvGrpSpPr>
        <p:grpSpPr>
          <a:xfrm>
            <a:off x="502919" y="3977640"/>
            <a:ext cx="11185857" cy="2130553"/>
            <a:chOff x="0" y="0"/>
            <a:chExt cx="11185855" cy="2130551"/>
          </a:xfrm>
        </p:grpSpPr>
        <p:sp>
          <p:nvSpPr>
            <p:cNvPr id="223" name="Rounded Rectangle"/>
            <p:cNvSpPr/>
            <p:nvPr/>
          </p:nvSpPr>
          <p:spPr>
            <a:xfrm>
              <a:off x="0" y="0"/>
              <a:ext cx="11185856" cy="2130552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4" name="final class LocalStore {   // Codable + файлы в Application Support…"/>
            <p:cNvSpPr txBox="1"/>
            <p:nvPr/>
          </p:nvSpPr>
          <p:spPr>
            <a:xfrm>
              <a:off x="195444" y="45973"/>
              <a:ext cx="7499208" cy="2038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final class LocalStore {   // Codable + файлы в Application Support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func save&lt;T: Encodable&gt;(_ value: T, forKey key: String)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guard let data = try? JSONEncoder().encode(value) else { return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try? data.write(to: fileURL(key), options: .atomic)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func load&lt;T: Decodable&gt;(forKey key: String) -&gt; T?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guard let data = try? Data(contentsOf: fileURL(key)) else { return nil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return try? JSONDecoder().decode(T.self, from: data)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</a:t>
              </a:r>
            </a:p>
          </p:txBody>
        </p:sp>
      </p:grpSp>
      <p:sp>
        <p:nvSpPr>
          <p:cNvPr id="226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27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16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Local-first поток билета</a:t>
            </a:r>
          </a:p>
        </p:txBody>
      </p:sp>
      <p:sp>
        <p:nvSpPr>
          <p:cNvPr id="230" name="TextBox 2"/>
          <p:cNvSpPr txBox="1"/>
          <p:nvPr/>
        </p:nvSpPr>
        <p:spPr>
          <a:xfrm>
            <a:off x="502919" y="1298447"/>
            <a:ext cx="11185857" cy="135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loadLocal — билет с диска практически мгновенно, работает в авиарежиме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refreshFromNetwork — фоном тихо обновляем источник правды, экран не блокируем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Статус синхронизации: «синхронизировано» / «обновляем» / «офлайн» — честность из блока 1 соблюдается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Экран ошибки — только при самом первом запуске без сети; во всех остальных сценариях билет показывается всегда</a:t>
            </a:r>
          </a:p>
        </p:txBody>
      </p:sp>
      <p:grpSp>
        <p:nvGrpSpPr>
          <p:cNvPr id="233" name="Rounded Rectangle 3"/>
          <p:cNvGrpSpPr/>
          <p:nvPr/>
        </p:nvGrpSpPr>
        <p:grpSpPr>
          <a:xfrm>
            <a:off x="502919" y="2978148"/>
            <a:ext cx="11185857" cy="3219705"/>
            <a:chOff x="0" y="0"/>
            <a:chExt cx="11185855" cy="3219704"/>
          </a:xfrm>
        </p:grpSpPr>
        <p:sp>
          <p:nvSpPr>
            <p:cNvPr id="231" name="Rounded Rectangle"/>
            <p:cNvSpPr/>
            <p:nvPr/>
          </p:nvSpPr>
          <p:spPr>
            <a:xfrm>
              <a:off x="0" y="75946"/>
              <a:ext cx="11185856" cy="3067812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2" name="final class TicketRepository {…"/>
            <p:cNvSpPr txBox="1"/>
            <p:nvPr/>
          </p:nvSpPr>
          <p:spPr>
            <a:xfrm>
              <a:off x="241197" y="0"/>
              <a:ext cx="7132198" cy="32197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final class TicketRepository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// ① мгновенно с диска — работает в авиарежиме, 0 мс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func loadLocal() -&gt; Ticket? { store.load(forKey: ticketKey)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// ② в фоне обновляем ИСТОЧНИК ПРАВДЫ, не блокируя UI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func refreshFromNetwork() async throws -&gt; Ticket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let result: Fetched&lt;RemoteUser&gt; = try await client.get(.user(id: 1))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let ticket = Ticket(user: result.value)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store.save(ticket, forKey: ticketKey)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return ticket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// ③ при логауте персональные данные не остаются на устройстве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func clearLocal() { store.remove(forKey: ticketKey)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</a:t>
              </a:r>
            </a:p>
          </p:txBody>
        </p:sp>
      </p:grpSp>
      <p:sp>
        <p:nvSpPr>
          <p:cNvPr id="234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35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17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 txBox="1"/>
          <p:nvPr/>
        </p:nvSpPr>
        <p:spPr>
          <a:xfrm>
            <a:off x="502919" y="1828800"/>
            <a:ext cx="11185857" cy="102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QR-код строится из локально сохранённого payload,</a:t>
            </a:r>
          </a:p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а не из живого ответа сервера</a:t>
            </a:r>
          </a:p>
        </p:txBody>
      </p:sp>
      <p:sp>
        <p:nvSpPr>
          <p:cNvPr id="238" name="TextBox 2"/>
          <p:cNvSpPr txBox="1"/>
          <p:nvPr/>
        </p:nvSpPr>
        <p:spPr>
          <a:xfrm>
            <a:off x="1005839" y="3154679"/>
            <a:ext cx="10180017" cy="13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Посадку можно пройти полностью офлайн</a:t>
            </a:r>
          </a:p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Сеть нужна лишь для того, чтобы держать локальную копию свежей</a:t>
            </a:r>
          </a:p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До этого билет жил в памяти ViewModel и «случайно» подхватывался из URLCache — на кэш полагаться нельзя, его вычистят</a:t>
            </a:r>
          </a:p>
        </p:txBody>
      </p:sp>
      <p:sp>
        <p:nvSpPr>
          <p:cNvPr id="239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40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18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Итог: кэш vs источник правды</a:t>
            </a:r>
          </a:p>
        </p:txBody>
      </p:sp>
      <p:sp>
        <p:nvSpPr>
          <p:cNvPr id="243" name="TextBox 2"/>
          <p:cNvSpPr txBox="1"/>
          <p:nvPr/>
        </p:nvSpPr>
        <p:spPr>
          <a:xfrm>
            <a:off x="502919" y="1298447"/>
            <a:ext cx="11185857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Кэш: «что показать, если сеть упала»</a:t>
            </a:r>
          </a:p>
        </p:txBody>
      </p:sp>
      <p:sp>
        <p:nvSpPr>
          <p:cNvPr id="244" name="TextBox 3"/>
          <p:cNvSpPr txBox="1"/>
          <p:nvPr/>
        </p:nvSpPr>
        <p:spPr>
          <a:xfrm>
            <a:off x="502919" y="1865376"/>
            <a:ext cx="11185857" cy="678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Источник правды: «данные всегда здесь, локально;</a:t>
            </a:r>
          </a:p>
          <a:p>
            <a: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сеть — лишь механизм обновления»</a:t>
            </a:r>
          </a:p>
        </p:txBody>
      </p:sp>
      <p:sp>
        <p:nvSpPr>
          <p:cNvPr id="245" name="TextBox 4"/>
          <p:cNvSpPr txBox="1"/>
          <p:nvPr/>
        </p:nvSpPr>
        <p:spPr>
          <a:xfrm>
            <a:off x="502919" y="3090672"/>
            <a:ext cx="11185857" cy="6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Для билета, баланса, черновиков — только второй подход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Лежать они должны в Application Support, а не в Caches</a:t>
            </a:r>
          </a:p>
        </p:txBody>
      </p:sp>
      <p:sp>
        <p:nvSpPr>
          <p:cNvPr id="246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47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19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Outbox — идея и компоненты</a:t>
            </a:r>
          </a:p>
        </p:txBody>
      </p:sp>
      <p:grpSp>
        <p:nvGrpSpPr>
          <p:cNvPr id="252" name="Rounded Rectangle 2"/>
          <p:cNvGrpSpPr/>
          <p:nvPr/>
        </p:nvGrpSpPr>
        <p:grpSpPr>
          <a:xfrm>
            <a:off x="10561319" y="347472"/>
            <a:ext cx="1143001" cy="347473"/>
            <a:chOff x="0" y="0"/>
            <a:chExt cx="1143000" cy="347472"/>
          </a:xfrm>
        </p:grpSpPr>
        <p:sp>
          <p:nvSpPr>
            <p:cNvPr id="250" name="Rounded Rectangle"/>
            <p:cNvSpPr/>
            <p:nvPr/>
          </p:nvSpPr>
          <p:spPr>
            <a:xfrm>
              <a:off x="0" y="0"/>
              <a:ext cx="1143000" cy="347473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1" name="commit 5"/>
            <p:cNvSpPr txBox="1"/>
            <p:nvPr/>
          </p:nvSpPr>
          <p:spPr>
            <a:xfrm>
              <a:off x="23311" y="84836"/>
              <a:ext cx="1096378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commit 5</a:t>
              </a:r>
            </a:p>
          </p:txBody>
        </p:sp>
      </p:grpSp>
      <p:sp>
        <p:nvSpPr>
          <p:cNvPr id="253" name="TextBox 3"/>
          <p:cNvSpPr txBox="1"/>
          <p:nvPr/>
        </p:nvSpPr>
        <p:spPr>
          <a:xfrm>
            <a:off x="502919" y="1298447"/>
            <a:ext cx="11185857" cy="997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Пользователь не только читает — он действует: лайк, отметка, форма. В наивном приложении действие = немедленный запрос, без сети оно теряется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Outbox: действие сначала пишется в локальную очередь, UI реагирует оптимистично, доставкой занимается фоновый воркер</a:t>
            </a:r>
          </a:p>
        </p:txBody>
      </p:sp>
      <p:graphicFrame>
        <p:nvGraphicFramePr>
          <p:cNvPr id="254" name="Table 4"/>
          <p:cNvGraphicFramePr/>
          <p:nvPr/>
        </p:nvGraphicFramePr>
        <p:xfrm>
          <a:off x="502919" y="2651759"/>
          <a:ext cx="11185855" cy="16916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117369"/>
                <a:gridCol w="8068485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Компонент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Роль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NetworkMonitor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обёртка над NWPathMonitor — знает о появлении сети заранее, до попытки запроса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OutboxItem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clientID (UUID) + действие + статус + счётчик ретраев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OutboxStore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персистентная очередь (outbox.json) — переживает перезапуск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OutboxProcessor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воркер: pending → inFlight → отправка, ретраи с backoff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grpSp>
        <p:nvGrpSpPr>
          <p:cNvPr id="257" name="Rounded Rectangle 5"/>
          <p:cNvGrpSpPr/>
          <p:nvPr/>
        </p:nvGrpSpPr>
        <p:grpSpPr>
          <a:xfrm>
            <a:off x="502919" y="4526279"/>
            <a:ext cx="11185857" cy="443485"/>
            <a:chOff x="0" y="0"/>
            <a:chExt cx="11185855" cy="443483"/>
          </a:xfrm>
        </p:grpSpPr>
        <p:sp>
          <p:nvSpPr>
            <p:cNvPr id="255" name="Rounded Rectangle"/>
            <p:cNvSpPr/>
            <p:nvPr/>
          </p:nvSpPr>
          <p:spPr>
            <a:xfrm>
              <a:off x="0" y="0"/>
              <a:ext cx="11185856" cy="443484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6" name="тап (офлайн) → enqueue → диск (pending) → появилась сеть → processQueue → POST → отправлено"/>
            <p:cNvSpPr txBox="1"/>
            <p:nvPr/>
          </p:nvSpPr>
          <p:spPr>
            <a:xfrm>
              <a:off x="113088" y="34289"/>
              <a:ext cx="10595857" cy="3749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>
              <a:lvl1pPr>
                <a:spcBef>
                  <a:spcPts val="100"/>
                </a:spcBef>
                <a:defRPr b="1" sz="15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тап (офлайн) → enqueue → диск (pending) → появилась сеть → processQueue → POST → отправлено</a:t>
              </a:r>
            </a:p>
          </p:txBody>
        </p:sp>
      </p:grpSp>
      <p:sp>
        <p:nvSpPr>
          <p:cNvPr id="258" name="TextBox 6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59" name="TextBox 7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1"/>
          <p:cNvSpPr txBox="1"/>
          <p:nvPr/>
        </p:nvSpPr>
        <p:spPr>
          <a:xfrm>
            <a:off x="502919" y="292608"/>
            <a:ext cx="9905697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И</a:t>
            </a:r>
            <a:r>
              <a:t>демпотентность</a:t>
            </a:r>
          </a:p>
        </p:txBody>
      </p:sp>
      <p:sp>
        <p:nvSpPr>
          <p:cNvPr id="262" name="TextBox 2"/>
          <p:cNvSpPr txBox="1"/>
          <p:nvPr/>
        </p:nvSpPr>
        <p:spPr>
          <a:xfrm>
            <a:off x="502919" y="1298447"/>
            <a:ext cx="11185857" cy="106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clientID — UUID: генерируется один раз и НЕ меняется между ретраями; летит в заголовке Idempotency-Key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Сценарий: лайк отправлен, сервер применил, ответ потерялся → клиент думает «не дошло» и повторяет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Без ключа — два лайка или две оплаты. С ключом сервер видит «этот clientID уже обрабатывал» и не задваивает</a:t>
            </a:r>
          </a:p>
        </p:txBody>
      </p:sp>
      <p:grpSp>
        <p:nvGrpSpPr>
          <p:cNvPr id="265" name="Rounded Rectangle 3"/>
          <p:cNvGrpSpPr/>
          <p:nvPr/>
        </p:nvGrpSpPr>
        <p:grpSpPr>
          <a:xfrm>
            <a:off x="502919" y="2715767"/>
            <a:ext cx="11185857" cy="1755650"/>
            <a:chOff x="0" y="0"/>
            <a:chExt cx="11185855" cy="1755648"/>
          </a:xfrm>
        </p:grpSpPr>
        <p:sp>
          <p:nvSpPr>
            <p:cNvPr id="263" name="Rounded Rectangle"/>
            <p:cNvSpPr/>
            <p:nvPr/>
          </p:nvSpPr>
          <p:spPr>
            <a:xfrm>
              <a:off x="0" y="0"/>
              <a:ext cx="11185856" cy="1755649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4" name="// clientID генерируется ОДИН раз при постановке в очередь……"/>
            <p:cNvSpPr txBox="1"/>
            <p:nvPr/>
          </p:nvSpPr>
          <p:spPr>
            <a:xfrm>
              <a:off x="177143" y="49022"/>
              <a:ext cx="7223951" cy="16576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// clientID генерируется ОДИН раз при постановке в очередь…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let item = OutboxItem(clientID: UUID(), action: action, retryCount: 0)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// …и не меняется между ретраями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let _: PostResponse = try await api.post(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.posts, body: payload,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idempotencyKey: item.clientID.uuidString   // → заголовок Idempotency-Key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)</a:t>
              </a:r>
            </a:p>
          </p:txBody>
        </p:sp>
      </p:grpSp>
      <p:sp>
        <p:nvSpPr>
          <p:cNvPr id="266" name="TextBox 4"/>
          <p:cNvSpPr txBox="1"/>
          <p:nvPr/>
        </p:nvSpPr>
        <p:spPr>
          <a:xfrm>
            <a:off x="502919" y="4599432"/>
            <a:ext cx="11185857" cy="45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defRPr sz="16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В демо JSONPlaceholder ключ не дедуплицирует — реализована клиентская половина контракта; серверную обеспечивает бэкенд</a:t>
            </a:r>
          </a:p>
        </p:txBody>
      </p:sp>
      <p:sp>
        <p:nvSpPr>
          <p:cNvPr id="267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68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21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Сценарий демо outbox</a:t>
            </a:r>
          </a:p>
        </p:txBody>
      </p:sp>
      <p:grpSp>
        <p:nvGrpSpPr>
          <p:cNvPr id="273" name="Rounded Rectangle 2"/>
          <p:cNvGrpSpPr/>
          <p:nvPr/>
        </p:nvGrpSpPr>
        <p:grpSpPr>
          <a:xfrm>
            <a:off x="502919" y="1298447"/>
            <a:ext cx="11185857" cy="731521"/>
            <a:chOff x="0" y="0"/>
            <a:chExt cx="11185855" cy="731519"/>
          </a:xfrm>
        </p:grpSpPr>
        <p:sp>
          <p:nvSpPr>
            <p:cNvPr id="271" name="Rounded Rectangle"/>
            <p:cNvSpPr/>
            <p:nvPr/>
          </p:nvSpPr>
          <p:spPr>
            <a:xfrm>
              <a:off x="0" y="0"/>
              <a:ext cx="11185856" cy="731520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2" name="LIVE DEMO…"/>
            <p:cNvSpPr txBox="1"/>
            <p:nvPr/>
          </p:nvSpPr>
          <p:spPr>
            <a:xfrm>
              <a:off x="173250" y="91135"/>
              <a:ext cx="10839355" cy="5492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spAutoFit/>
            </a:bodyPr>
            <a:lstStyle/>
            <a:p>
              <a:pPr>
                <a:spcBef>
                  <a:spcPts val="200"/>
                </a:spcBef>
                <a:defRPr b="1" sz="1400">
                  <a:solidFill>
                    <a:srgbClr val="4FC3F7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LIVE DEMO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E8E8F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Видео/live: outbox переживает офлайн и перезапуск приложения</a:t>
              </a:r>
            </a:p>
          </p:txBody>
        </p:sp>
      </p:grpSp>
      <p:sp>
        <p:nvSpPr>
          <p:cNvPr id="274" name="TextBox 3"/>
          <p:cNvSpPr txBox="1"/>
          <p:nvPr/>
        </p:nvSpPr>
        <p:spPr>
          <a:xfrm>
            <a:off x="502919" y="2157983"/>
            <a:ext cx="11185857" cy="159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1. Airplane Mode → тап «лайк» → в Настройках «в очереди: 1»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2. Убить и перезапустить приложение (всё ещё офлайн) → очередь на месте — прочитана с диска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3. Выключить Airplane Mode → NWPathMonitor ловит переход → воркер сам отправляет → очередь пустеет</a:t>
            </a:r>
          </a:p>
          <a:p>
            <a:pPr>
              <a:spcBef>
                <a:spcPts val="500"/>
              </a:spcBef>
              <a:defRPr b="1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Пользователь не сделал ничего особенного — всё произошло само</a:t>
            </a:r>
          </a:p>
        </p:txBody>
      </p:sp>
      <p:sp>
        <p:nvSpPr>
          <p:cNvPr id="275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76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22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Дополнительные offline-кейсы</a:t>
            </a:r>
          </a:p>
        </p:txBody>
      </p:sp>
      <p:sp>
        <p:nvSpPr>
          <p:cNvPr id="279" name="TextBox 2"/>
          <p:cNvSpPr txBox="1"/>
          <p:nvPr/>
        </p:nvSpPr>
        <p:spPr>
          <a:xfrm>
            <a:off x="502919" y="1298447"/>
            <a:ext cx="11185857" cy="1949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Карты и маршруты офлайн — заранее скачанный регион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Штрихкод карты лояльности на кассе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Контент «скачать для офлайна»: книги, подкасты, курсы — с синхронизацией прогресса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Черновики, переживающие закрытие приложения</a:t>
            </a:r>
          </a:p>
          <a:p>
            <a:pPr>
              <a:spcBef>
                <a:spcPts val="500"/>
              </a:spcBef>
              <a:defRPr b="1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Везде одни и те же три идеи: локальный источник правды · честная индикация актуальности · очередь на запись</a:t>
            </a:r>
          </a:p>
        </p:txBody>
      </p:sp>
      <p:sp>
        <p:nvSpPr>
          <p:cNvPr id="280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2 · Offline-first</a:t>
            </a:r>
          </a:p>
        </p:txBody>
      </p:sp>
      <p:sp>
        <p:nvSpPr>
          <p:cNvPr id="281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23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1"/>
          <p:cNvSpPr txBox="1"/>
          <p:nvPr/>
        </p:nvSpPr>
        <p:spPr>
          <a:xfrm>
            <a:off x="502919" y="1828800"/>
            <a:ext cx="11185857" cy="102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Без модели угроз любые советы</a:t>
            </a:r>
          </a:p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 безопасности — карго-культ</a:t>
            </a:r>
          </a:p>
        </p:txBody>
      </p:sp>
      <p:sp>
        <p:nvSpPr>
          <p:cNvPr id="284" name="TextBox 2"/>
          <p:cNvSpPr txBox="1"/>
          <p:nvPr/>
        </p:nvSpPr>
        <p:spPr>
          <a:xfrm>
            <a:off x="1005839" y="3154679"/>
            <a:ext cx="10180017" cy="6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«Шифруйте всё» звучит солидно, но не отвечает на вопрос «от кого»</a:t>
            </a:r>
          </a:p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Нельзя «защититься вообще» — можно защититься от конкретного противника</a:t>
            </a:r>
          </a:p>
        </p:txBody>
      </p:sp>
      <p:sp>
        <p:nvSpPr>
          <p:cNvPr id="285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286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От кого защищаемся</a:t>
            </a:r>
          </a:p>
        </p:txBody>
      </p:sp>
      <p:sp>
        <p:nvSpPr>
          <p:cNvPr id="289" name="TextBox 2"/>
          <p:cNvSpPr txBox="1"/>
          <p:nvPr/>
        </p:nvSpPr>
        <p:spPr>
          <a:xfrm>
            <a:off x="502919" y="1298447"/>
            <a:ext cx="11185857" cy="2342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Другое приложение — песочница iOS изолирует, но ошибки в хранении бьют по нам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Вор телефона — физический доступ к устройству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Бэкап в iCloud / iTunes — секреты могут уехать на другое устройство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Jailbreak — ослабленная песочница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Чужие глаза — коллега, ребёнок, камера над плечом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Из блока 1 — компрометация канала и утечка данных между пользователями после логаута</a:t>
            </a:r>
          </a:p>
          <a:p>
            <a:pPr>
              <a:spcBef>
                <a:spcPts val="500"/>
              </a:spcBef>
              <a:defRPr b="1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Под каждый сценарий — свой инструмент, а не «шифруйте всё»</a:t>
            </a:r>
          </a:p>
        </p:txBody>
      </p:sp>
      <p:sp>
        <p:nvSpPr>
          <p:cNvPr id="290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291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25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Карта хранилищ</a:t>
            </a:r>
          </a:p>
        </p:txBody>
      </p:sp>
      <p:graphicFrame>
        <p:nvGraphicFramePr>
          <p:cNvPr id="294" name="Table 2"/>
          <p:cNvGraphicFramePr/>
          <p:nvPr/>
        </p:nvGraphicFramePr>
        <p:xfrm>
          <a:off x="502919" y="1298447"/>
          <a:ext cx="11185855" cy="202996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300744"/>
                <a:gridCol w="4217617"/>
                <a:gridCol w="3667492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Хранилище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Для чего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Чего нельзя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Keychain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токены, пароли, ключи шифрования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большие объёмы данных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UserDefaults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настройки, флаги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секреты/токены — это plain-text plist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Documents / App Support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пользовательские данные, бэкапятся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временный кэш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Caches / tmp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то, что можно перекачать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то, что нельзя потерять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Core Data / SQLite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офлайн-датасеты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секреты без шифрования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295" name="TextBox 3"/>
          <p:cNvSpPr txBox="1"/>
          <p:nvPr/>
        </p:nvSpPr>
        <p:spPr>
          <a:xfrm>
            <a:off x="502919" y="3511294"/>
            <a:ext cx="11185857" cy="527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UserDefaults — открытый текст: физически это .plist в Library/Preferences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UserDefaults видно в бэкапе, его открывает текстовый редактор. Любой токен там — секрет, отданный наружу</a:t>
            </a:r>
          </a:p>
        </p:txBody>
      </p:sp>
      <p:sp>
        <p:nvSpPr>
          <p:cNvPr id="296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297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26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Папки песочницы + бэкап</a:t>
            </a:r>
          </a:p>
        </p:txBody>
      </p:sp>
      <p:graphicFrame>
        <p:nvGraphicFramePr>
          <p:cNvPr id="300" name="Table 2"/>
          <p:cNvGraphicFramePr/>
          <p:nvPr/>
        </p:nvGraphicFramePr>
        <p:xfrm>
          <a:off x="502919" y="1298447"/>
          <a:ext cx="11185855" cy="16916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50868"/>
                <a:gridCol w="3667492"/>
                <a:gridCol w="3667492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Папка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 бэкапе iCloud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ОС может удалить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Documents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Application Support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Library/Caches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 — под нехватку места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tmp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 — в любой момент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301" name="TextBox 3"/>
          <p:cNvSpPr txBox="1"/>
          <p:nvPr/>
        </p:nvSpPr>
        <p:spPr>
          <a:xfrm>
            <a:off x="502919" y="3172967"/>
            <a:ext cx="11185857" cy="768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isExcludedFromBackup — исключить конкретный файл из бэкапа (например, большой скачанный датасет)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Выбор папки — это и надёжность, и безопасность: билеты и черновики ≠ кэш, они должны лежать в правильном месте</a:t>
            </a:r>
          </a:p>
        </p:txBody>
      </p:sp>
      <p:sp>
        <p:nvSpPr>
          <p:cNvPr id="302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03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27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Keychain — зачем и как</a:t>
            </a:r>
          </a:p>
        </p:txBody>
      </p:sp>
      <p:grpSp>
        <p:nvGrpSpPr>
          <p:cNvPr id="308" name="Rounded Rectangle 2"/>
          <p:cNvGrpSpPr/>
          <p:nvPr/>
        </p:nvGrpSpPr>
        <p:grpSpPr>
          <a:xfrm>
            <a:off x="10561319" y="347472"/>
            <a:ext cx="1143001" cy="347473"/>
            <a:chOff x="0" y="0"/>
            <a:chExt cx="1143000" cy="347472"/>
          </a:xfrm>
        </p:grpSpPr>
        <p:sp>
          <p:nvSpPr>
            <p:cNvPr id="306" name="Rounded Rectangle"/>
            <p:cNvSpPr/>
            <p:nvPr/>
          </p:nvSpPr>
          <p:spPr>
            <a:xfrm>
              <a:off x="0" y="0"/>
              <a:ext cx="1143000" cy="347473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7" name="commit 6"/>
            <p:cNvSpPr txBox="1"/>
            <p:nvPr/>
          </p:nvSpPr>
          <p:spPr>
            <a:xfrm>
              <a:off x="23311" y="84836"/>
              <a:ext cx="1096378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commit 6</a:t>
              </a:r>
            </a:p>
          </p:txBody>
        </p:sp>
      </p:grpSp>
      <p:sp>
        <p:nvSpPr>
          <p:cNvPr id="309" name="TextBox 3"/>
          <p:cNvSpPr txBox="1"/>
          <p:nvPr/>
        </p:nvSpPr>
        <p:spPr>
          <a:xfrm>
            <a:off x="502919" y="1298447"/>
            <a:ext cx="11185857" cy="1403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Первый настоящий секрет — access token после логина. По карте хранилищ место одно — Keychain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Зашифрованное хранилище ОС: AES-256, ключи живут в Secure Enclave и не покидают его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API старый и сишный (SecItemAdd, SecItemCopyMatching) → обёртка KeychainStore: save / read / delete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Логин → save; старт приложения → read (сессия переживает перезапуск); логаут → delete</a:t>
            </a:r>
          </a:p>
          <a:p>
            <a:pPr>
              <a:spcBef>
                <a:spcPts val="500"/>
              </a:spcBef>
              <a:defRPr sz="16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Для маленьких секретов — токенов и ключей, не для больших объёмов данных</a:t>
            </a:r>
          </a:p>
        </p:txBody>
      </p:sp>
      <p:grpSp>
        <p:nvGrpSpPr>
          <p:cNvPr id="312" name="Rounded Rectangle 4"/>
          <p:cNvGrpSpPr/>
          <p:nvPr/>
        </p:nvGrpSpPr>
        <p:grpSpPr>
          <a:xfrm>
            <a:off x="502919" y="3118104"/>
            <a:ext cx="11185857" cy="2505457"/>
            <a:chOff x="0" y="0"/>
            <a:chExt cx="11185855" cy="2505455"/>
          </a:xfrm>
        </p:grpSpPr>
        <p:sp>
          <p:nvSpPr>
            <p:cNvPr id="310" name="Rounded Rectangle"/>
            <p:cNvSpPr/>
            <p:nvPr/>
          </p:nvSpPr>
          <p:spPr>
            <a:xfrm>
              <a:off x="0" y="0"/>
              <a:ext cx="11185856" cy="2505456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1" name="final class KeychainStore {…"/>
            <p:cNvSpPr txBox="1"/>
            <p:nvPr/>
          </p:nvSpPr>
          <p:spPr>
            <a:xfrm>
              <a:off x="213745" y="42926"/>
              <a:ext cx="8508487" cy="24196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final class KeychainStore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func save(_ data: Data, account: String) throws {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var query: [CFString: Any] = [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    kSecClass: kSecClassGenericPassword,   // класс для app-токенов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    kSecAttrService: service, kSecAttrAccount: account,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    kSecValueData: data,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    kSecAttrAccessible: kSecAttrAccessibleAfterFirstUnlockThisDeviceOnly]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let status = SecItemAdd(query as CFDictionary, nil)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    guard status == errSecSuccess else { throw KeychainError.unexpectedStatus(status)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}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// + read → SecItemCopyMatching, delete → SecItemDelete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}</a:t>
              </a:r>
            </a:p>
          </p:txBody>
        </p:sp>
      </p:grpSp>
      <p:sp>
        <p:nvSpPr>
          <p:cNvPr id="313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14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28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Классы доступности</a:t>
            </a:r>
          </a:p>
        </p:txBody>
      </p:sp>
      <p:graphicFrame>
        <p:nvGraphicFramePr>
          <p:cNvPr id="317" name="Table 2"/>
          <p:cNvGraphicFramePr/>
          <p:nvPr/>
        </p:nvGraphicFramePr>
        <p:xfrm>
          <a:off x="502919" y="1298447"/>
          <a:ext cx="11185855" cy="135331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17617"/>
                <a:gridCol w="6968236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Класс доступности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Когда ОС отдаёт секрет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WhenUnlocked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только при разблокированном экране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AfterFirstUnlock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после первой разблокировки после включения — доступен и в фоне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 суффикс ThisDeviceOnly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секрет не попадает в бэкап и не переезжает на другое устройство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318" name="TextBox 3"/>
          <p:cNvSpPr txBox="1"/>
          <p:nvPr/>
        </p:nvSpPr>
        <p:spPr>
          <a:xfrm>
            <a:off x="502919" y="2834639"/>
            <a:ext cx="11185857" cy="104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Наш выбор — AfterFirstUnlockThisDeviceOnly, и оба слова осознанные: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AfterFirstUnlock — outbox-воркеру из блока 2 нужно слать запросы с токеном в фоне, без участия пользователя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ThisDeviceOnly — в модели угроз есть «бэкап в iCloud»: компрометация бэкапа не должна означать компрометацию токена</a:t>
            </a:r>
          </a:p>
        </p:txBody>
      </p:sp>
      <p:sp>
        <p:nvSpPr>
          <p:cNvPr id="319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20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29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UserDefaults vs Keychain</a:t>
            </a:r>
          </a:p>
        </p:txBody>
      </p:sp>
      <p:grpSp>
        <p:nvGrpSpPr>
          <p:cNvPr id="325" name="Rounded Rectangle 2"/>
          <p:cNvGrpSpPr/>
          <p:nvPr/>
        </p:nvGrpSpPr>
        <p:grpSpPr>
          <a:xfrm>
            <a:off x="502919" y="1298447"/>
            <a:ext cx="11185857" cy="987553"/>
            <a:chOff x="0" y="0"/>
            <a:chExt cx="11185855" cy="987552"/>
          </a:xfrm>
        </p:grpSpPr>
        <p:sp>
          <p:nvSpPr>
            <p:cNvPr id="323" name="Rounded Rectangle"/>
            <p:cNvSpPr/>
            <p:nvPr/>
          </p:nvSpPr>
          <p:spPr>
            <a:xfrm>
              <a:off x="0" y="0"/>
              <a:ext cx="11185856" cy="987553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4" name="LIVE DEMO…"/>
            <p:cNvSpPr txBox="1"/>
            <p:nvPr/>
          </p:nvSpPr>
          <p:spPr>
            <a:xfrm>
              <a:off x="185748" y="108528"/>
              <a:ext cx="10814359" cy="7704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4864" tIns="54864" rIns="54864" bIns="54864" numCol="1" anchor="ctr">
              <a:spAutoFit/>
            </a:bodyPr>
            <a:lstStyle/>
            <a:p>
              <a:pPr>
                <a:spcBef>
                  <a:spcPts val="200"/>
                </a:spcBef>
                <a:defRPr b="1" sz="1400">
                  <a:solidFill>
                    <a:srgbClr val="4FC3F7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LIVE DEMO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E8E8F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t>Кнопка пишет токен в UserDefaults → открываем Library/Preferences/&lt;bundle&gt;.plist — токен виден глазами. Рядом токен в Keychain — так просто не достать</a:t>
              </a:r>
            </a:p>
          </p:txBody>
        </p:sp>
      </p:grpSp>
      <p:graphicFrame>
        <p:nvGraphicFramePr>
          <p:cNvPr id="326" name="Table 3"/>
          <p:cNvGraphicFramePr/>
          <p:nvPr/>
        </p:nvGraphicFramePr>
        <p:xfrm>
          <a:off x="502919" y="2414016"/>
          <a:ext cx="11185854" cy="16916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7121"/>
                <a:gridCol w="4584366"/>
                <a:gridCol w="4584366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UserDefaults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Keychain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Физически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plain-text .plist в Library/Preferences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зашифрованная БД ОС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Шифрование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AES-256, ключи в Secure Enclave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Бэкап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уезжает в iCloud как есть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 ThisDeviceOnly — не уезжает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Что класть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настройки, флаги, имя пользователя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секреты: токены, пароли, ключи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327" name="TextBox 4"/>
          <p:cNvSpPr txBox="1"/>
          <p:nvPr/>
        </p:nvSpPr>
        <p:spPr>
          <a:xfrm>
            <a:off x="502919" y="4288535"/>
            <a:ext cx="11185857" cy="819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Имя пользователя намеренно в UserDefaults — это не секрет. Токен — только в Keychain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Безопасность — не «всё шифровать», а «класть каждый тип данных в правильное место»</a:t>
            </a:r>
          </a:p>
          <a:p>
            <a:pPr>
              <a:spcBef>
                <a:spcPts val="500"/>
              </a:spcBef>
              <a:defRPr sz="16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Файлы шифрует Data Protection при блокировке, ключи — в Secure Enclave</a:t>
            </a:r>
          </a:p>
        </p:txBody>
      </p:sp>
      <p:sp>
        <p:nvSpPr>
          <p:cNvPr id="328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29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FaceID — гейт, а не шифрование</a:t>
            </a:r>
          </a:p>
        </p:txBody>
      </p:sp>
      <p:grpSp>
        <p:nvGrpSpPr>
          <p:cNvPr id="334" name="Rounded Rectangle 2"/>
          <p:cNvGrpSpPr/>
          <p:nvPr/>
        </p:nvGrpSpPr>
        <p:grpSpPr>
          <a:xfrm>
            <a:off x="10561319" y="347472"/>
            <a:ext cx="1143001" cy="347473"/>
            <a:chOff x="0" y="0"/>
            <a:chExt cx="1143000" cy="347472"/>
          </a:xfrm>
        </p:grpSpPr>
        <p:sp>
          <p:nvSpPr>
            <p:cNvPr id="332" name="Rounded Rectangle"/>
            <p:cNvSpPr/>
            <p:nvPr/>
          </p:nvSpPr>
          <p:spPr>
            <a:xfrm>
              <a:off x="0" y="0"/>
              <a:ext cx="1143000" cy="347473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solidFill>
                <a:srgbClr val="4FC3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3" name="commit 7"/>
            <p:cNvSpPr txBox="1"/>
            <p:nvPr/>
          </p:nvSpPr>
          <p:spPr>
            <a:xfrm>
              <a:off x="23311" y="84836"/>
              <a:ext cx="1096378" cy="1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4FC3F7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lvl1pPr>
            </a:lstStyle>
            <a:p>
              <a:pPr/>
              <a:r>
                <a:t>commit 7</a:t>
              </a:r>
            </a:p>
          </p:txBody>
        </p:sp>
      </p:grpSp>
      <p:sp>
        <p:nvSpPr>
          <p:cNvPr id="335" name="TextBox 3"/>
          <p:cNvSpPr txBox="1"/>
          <p:nvPr/>
        </p:nvSpPr>
        <p:spPr>
          <a:xfrm>
            <a:off x="502919" y="1298447"/>
            <a:ext cx="11185857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FaceID — это гейт доступа, а не шифрование</a:t>
            </a:r>
          </a:p>
        </p:txBody>
      </p:sp>
      <p:sp>
        <p:nvSpPr>
          <p:cNvPr id="336" name="TextBox 4"/>
          <p:cNvSpPr txBox="1"/>
          <p:nvPr/>
        </p:nvSpPr>
        <p:spPr>
          <a:xfrm>
            <a:off x="502919" y="1865376"/>
            <a:ext cx="11185857" cy="819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Данные билета уже на диске и зашифрованы Data Protection — FaceID их не расшифровывает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Он решает один вопрос: показать данные пользователю или нет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Замок на двери, не сейф. Сейф — Secure Enclave и Keychain</a:t>
            </a:r>
          </a:p>
        </p:txBody>
      </p:sp>
      <p:graphicFrame>
        <p:nvGraphicFramePr>
          <p:cNvPr id="337" name="Table 5"/>
          <p:cNvGraphicFramePr/>
          <p:nvPr/>
        </p:nvGraphicFramePr>
        <p:xfrm>
          <a:off x="502919" y="3008375"/>
          <a:ext cx="11185854" cy="101498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767741"/>
                <a:gridCol w="3484118"/>
                <a:gridCol w="2933994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Политика LAPolicy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Что разрешает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Где используем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.deviceOwnerAuthenticationWithBiometrics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только FaceID / TouchID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гейт на билет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.deviceOwnerAuthentication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биометрия или пароль устройства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фолбэк (симулятор без биометрии)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338" name="TextBox 6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39" name="TextBox 7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31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1"/>
          <p:cNvSpPr txBox="1"/>
          <p:nvPr/>
        </p:nvSpPr>
        <p:spPr>
          <a:xfrm>
            <a:off x="502919" y="292608"/>
            <a:ext cx="990569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FaceID на TicketView</a:t>
            </a:r>
          </a:p>
        </p:txBody>
      </p:sp>
      <p:sp>
        <p:nvSpPr>
          <p:cNvPr id="342" name="TextBox 2"/>
          <p:cNvSpPr txBox="1"/>
          <p:nvPr/>
        </p:nvSpPr>
        <p:spPr>
          <a:xfrm>
            <a:off x="502919" y="1298447"/>
            <a:ext cx="11185857" cy="1575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Приложение ушло в фон → экран билета снова блокируется: гейт, а не «разблокировал один раз навсегда»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Платёжный токен привязан к биометрии на уровне Keychain: SecAccessControl(.biometryCurrentSet)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Приложение не вызывает проверку само — биометрию запрашивает Keychain через Secure Enclave; секрет физически не отдаётся без живого FaceID</a:t>
            </a:r>
          </a:p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.biometryAny: добавили новое лицо — секрет всё ещё читается. .biometryCurrentSet: секрет недоступен — защита от подмены. Для платёжных данных — только CurrentSet</a:t>
            </a:r>
          </a:p>
        </p:txBody>
      </p:sp>
      <p:grpSp>
        <p:nvGrpSpPr>
          <p:cNvPr id="345" name="Rounded Rectangle 3"/>
          <p:cNvGrpSpPr/>
          <p:nvPr/>
        </p:nvGrpSpPr>
        <p:grpSpPr>
          <a:xfrm>
            <a:off x="502919" y="3328415"/>
            <a:ext cx="11185857" cy="2318005"/>
            <a:chOff x="0" y="0"/>
            <a:chExt cx="11185855" cy="2318004"/>
          </a:xfrm>
        </p:grpSpPr>
        <p:sp>
          <p:nvSpPr>
            <p:cNvPr id="343" name="Rounded Rectangle"/>
            <p:cNvSpPr/>
            <p:nvPr/>
          </p:nvSpPr>
          <p:spPr>
            <a:xfrm>
              <a:off x="0" y="0"/>
              <a:ext cx="11185856" cy="2318005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4" name="let access = SecAccessControlCreateWithFlags(…"/>
            <p:cNvSpPr txBox="1"/>
            <p:nvPr/>
          </p:nvSpPr>
          <p:spPr>
            <a:xfrm>
              <a:off x="204595" y="6350"/>
              <a:ext cx="7315703" cy="23053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let access = SecAccessControlCreateWithFlags(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kCFAllocatorDefault,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kSecAttrAccessibleWhenUnlockedThisDeviceOnly,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.biometryCurrentSet,        //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🔑 </a:t>
              </a:r>
              <a:r>
                <a:t>не .biometryAny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   &amp;error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query[kSecAttrAccessControl] = access   // секрет привязан к текущей биометрии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// чтение: FaceID-промпт показывает сам Keychain через Secure Enclave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query[kSecUseAuthenticationContext] = LAContext()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SecItemCopyMatching(query as CFDictionary, &amp;result)</a:t>
              </a:r>
            </a:p>
          </p:txBody>
        </p:sp>
      </p:grpSp>
      <p:sp>
        <p:nvSpPr>
          <p:cNvPr id="346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47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32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accessToken и paymentToken</a:t>
            </a:r>
          </a:p>
        </p:txBody>
      </p:sp>
      <p:graphicFrame>
        <p:nvGraphicFramePr>
          <p:cNvPr id="350" name="Table 2"/>
          <p:cNvGraphicFramePr/>
          <p:nvPr/>
        </p:nvGraphicFramePr>
        <p:xfrm>
          <a:off x="502919" y="1298447"/>
          <a:ext cx="11185855" cy="101498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33994"/>
                <a:gridCol w="4400992"/>
                <a:gridCol w="3850868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Токен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Класс / ACL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4FC3F7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Чтение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16213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accessToken (коммит 6)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AfterFirstUnlockThisDeviceOnly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без биометрии — нужен фоновому outbox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paymentToken (коммит 7)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SecAccessControl(.biometryCurrentSet)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8E8F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только через FaceID на уровне ОС</a:t>
                      </a:r>
                    </a:p>
                  </a:txBody>
                  <a:tcPr marL="27432" marR="27432" marT="27432" marB="27432" anchor="t" anchorCtr="0" horzOverflow="overflow">
                    <a:solidFill>
                      <a:srgbClr val="202040"/>
                    </a:solidFill>
                  </a:tcPr>
                </a:tc>
              </a:tr>
            </a:tbl>
          </a:graphicData>
        </a:graphic>
      </p:graphicFrame>
      <p:sp>
        <p:nvSpPr>
          <p:cNvPr id="351" name="TextBox 3"/>
          <p:cNvSpPr txBox="1"/>
          <p:nvPr/>
        </p:nvSpPr>
        <p:spPr>
          <a:xfrm>
            <a:off x="502919" y="2496311"/>
            <a:ext cx="11185857" cy="527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Два секрета — две политики, потому что требования разные: фоновые запросы vs платёж</a:t>
            </a:r>
          </a:p>
          <a:p>
            <a:pPr>
              <a:spcBef>
                <a:spcPts val="500"/>
              </a:spcBef>
              <a:defRPr b="1" sz="16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logout удаляет оба — в той же единой точке очистки, что мы завели в блоке 1</a:t>
            </a:r>
          </a:p>
        </p:txBody>
      </p:sp>
      <p:sp>
        <p:nvSpPr>
          <p:cNvPr id="352" name="TextBox 4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53" name="TextBox 5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33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Не забыть про Info.plist</a:t>
            </a:r>
          </a:p>
        </p:txBody>
      </p:sp>
      <p:sp>
        <p:nvSpPr>
          <p:cNvPr id="356" name="TextBox 2"/>
          <p:cNvSpPr txBox="1"/>
          <p:nvPr/>
        </p:nvSpPr>
        <p:spPr>
          <a:xfrm>
            <a:off x="502919" y="1298447"/>
            <a:ext cx="11185857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21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NSFaceIDUsageDescription — обязательный ключ в Info.plist</a:t>
            </a:r>
          </a:p>
        </p:txBody>
      </p:sp>
      <p:sp>
        <p:nvSpPr>
          <p:cNvPr id="357" name="TextBox 3"/>
          <p:cNvSpPr txBox="1"/>
          <p:nvPr/>
        </p:nvSpPr>
        <p:spPr>
          <a:xfrm>
            <a:off x="502919" y="1865376"/>
            <a:ext cx="11185857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defRPr b="1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Без него обращение к FaceID не «вернёт ошибку», а крашит приложение</a:t>
            </a:r>
          </a:p>
        </p:txBody>
      </p:sp>
      <p:grpSp>
        <p:nvGrpSpPr>
          <p:cNvPr id="360" name="Rounded Rectangle 4"/>
          <p:cNvGrpSpPr/>
          <p:nvPr/>
        </p:nvGrpSpPr>
        <p:grpSpPr>
          <a:xfrm>
            <a:off x="502919" y="2743200"/>
            <a:ext cx="11185857" cy="630937"/>
            <a:chOff x="0" y="0"/>
            <a:chExt cx="11185855" cy="630936"/>
          </a:xfrm>
        </p:grpSpPr>
        <p:sp>
          <p:nvSpPr>
            <p:cNvPr id="358" name="Rounded Rectangle"/>
            <p:cNvSpPr/>
            <p:nvPr/>
          </p:nvSpPr>
          <p:spPr>
            <a:xfrm>
              <a:off x="0" y="0"/>
              <a:ext cx="11185856" cy="630937"/>
            </a:xfrm>
            <a:prstGeom prst="roundRect">
              <a:avLst>
                <a:gd name="adj" fmla="val 16667"/>
              </a:avLst>
            </a:prstGeom>
            <a:solidFill>
              <a:srgbClr val="16213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9" name="&lt;key&gt;NSFaceIDUsageDescription&lt;/key&gt;…"/>
            <p:cNvSpPr txBox="1"/>
            <p:nvPr/>
          </p:nvSpPr>
          <p:spPr>
            <a:xfrm>
              <a:off x="122239" y="58165"/>
              <a:ext cx="6489931" cy="514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3152" tIns="73152" rIns="73152" bIns="73152" numCol="1" anchor="ctr">
              <a:spAutoFit/>
            </a:bodyPr>
            <a:lstStyle/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&lt;key&gt;NSFaceIDUsageDescription&lt;/key&gt;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sz="1200">
                  <a:solidFill>
                    <a:srgbClr val="A8E6CF"/>
                  </a:solidFill>
                  <a:latin typeface="Menlo Regular"/>
                  <a:ea typeface="Menlo Regular"/>
                  <a:cs typeface="Menlo Regular"/>
                  <a:sym typeface="Menlo Regular"/>
                </a:defRPr>
              </a:pPr>
              <a:r>
                <a:t>&lt;string&gt;Подтверждаем личность перед показом билета и оплатой&lt;/string&gt;</a:t>
              </a:r>
            </a:p>
          </p:txBody>
        </p:sp>
      </p:grpSp>
      <p:sp>
        <p:nvSpPr>
          <p:cNvPr id="361" name="TextBox 5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3 · Безопасность и хранение</a:t>
            </a:r>
          </a:p>
        </p:txBody>
      </p:sp>
      <p:sp>
        <p:nvSpPr>
          <p:cNvPr id="362" name="TextBox 6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34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Типичные ошибки</a:t>
            </a:r>
          </a:p>
        </p:txBody>
      </p:sp>
      <p:sp>
        <p:nvSpPr>
          <p:cNvPr id="365" name="TextBox 2"/>
          <p:cNvSpPr txBox="1"/>
          <p:nvPr/>
        </p:nvSpPr>
        <p:spPr>
          <a:xfrm>
            <a:off x="502919" y="1298447"/>
            <a:ext cx="11185857" cy="2025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Показывают протухший кэш без индикации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Кладут токены в UserDefaults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Хранят билеты в Library/Caches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FaceID только в UI, без привязки к Keychain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Забывают чистить всё при логауте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✗ </a:t>
            </a:r>
            <a:r>
              <a:t>Считают «попробуйте позже» нормальным офлайном</a:t>
            </a:r>
          </a:p>
        </p:txBody>
      </p:sp>
      <p:sp>
        <p:nvSpPr>
          <p:cNvPr id="366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4 · Итоги</a:t>
            </a:r>
          </a:p>
        </p:txBody>
      </p:sp>
      <p:sp>
        <p:nvSpPr>
          <p:cNvPr id="367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36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Box 1"/>
          <p:cNvSpPr txBox="1"/>
          <p:nvPr/>
        </p:nvSpPr>
        <p:spPr>
          <a:xfrm>
            <a:off x="502919" y="292608"/>
            <a:ext cx="9905697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Чек-лист отказоустойчивого приложения</a:t>
            </a:r>
          </a:p>
        </p:txBody>
      </p:sp>
      <p:sp>
        <p:nvSpPr>
          <p:cNvPr id="370" name="TextBox 2"/>
          <p:cNvSpPr txBox="1"/>
          <p:nvPr/>
        </p:nvSpPr>
        <p:spPr>
          <a:xfrm>
            <a:off x="502919" y="1298447"/>
            <a:ext cx="11185857" cy="2724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Локальный источник правды; сеть только синхронизирует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У кэша — TTL, версия схемы, очистка при логауте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Пользователю честно показываем актуальность данных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Запись без сети — в outbox с идемпотентностью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Секреты — только Keychain с правильным классом доступности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Файлы — в правильных папках; критичное исключено из ненужного бэкапа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Чувствительное — за FaceID; платёжные токены привязаны к биометрии</a:t>
            </a:r>
          </a:p>
          <a:p>
            <a:pPr>
              <a:spcBef>
                <a:spcPts val="5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✓ </a:t>
            </a:r>
            <a:r>
              <a:t>Офлайн-токены оплаты — срок, лимит, подпись</a:t>
            </a:r>
          </a:p>
        </p:txBody>
      </p:sp>
      <p:sp>
        <p:nvSpPr>
          <p:cNvPr id="371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4 · Итоги</a:t>
            </a:r>
          </a:p>
        </p:txBody>
      </p:sp>
      <p:sp>
        <p:nvSpPr>
          <p:cNvPr id="372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37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Box 1"/>
          <p:cNvSpPr txBox="1"/>
          <p:nvPr/>
        </p:nvSpPr>
        <p:spPr>
          <a:xfrm>
            <a:off x="502919" y="1828800"/>
            <a:ext cx="11185857" cy="1575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Сеть ненадёжна. Данные живут локально.</a:t>
            </a:r>
          </a:p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Пользователю всегда говорим правду</a:t>
            </a:r>
          </a:p>
          <a:p>
            <a:pPr algn="ctr">
              <a:spcBef>
                <a:spcPts val="400"/>
              </a:spcBef>
              <a:defRPr b="1" sz="3200">
                <a:solidFill>
                  <a:srgbClr val="4FC3F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о том, что он видит.</a:t>
            </a:r>
          </a:p>
        </p:txBody>
      </p:sp>
      <p:sp>
        <p:nvSpPr>
          <p:cNvPr id="375" name="TextBox 2"/>
          <p:cNvSpPr txBox="1"/>
          <p:nvPr/>
        </p:nvSpPr>
        <p:spPr>
          <a:xfrm>
            <a:off x="1005839" y="3657600"/>
            <a:ext cx="10180017" cy="10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Отказоустойчивость — не фича, которую прикручивают в конце, а способ мышления</a:t>
            </a:r>
          </a:p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Постройте приложение так — и авиарежим перестанет быть проблемой</a:t>
            </a:r>
          </a:p>
          <a:p>
            <a:pPr algn="ctr">
              <a:spcBef>
                <a:spcPts val="1000"/>
              </a:spcBef>
              <a:defRPr>
                <a:solidFill>
                  <a:srgbClr val="E8E8F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Спасибо! Вопросы</a:t>
            </a:r>
          </a:p>
        </p:txBody>
      </p:sp>
      <p:sp>
        <p:nvSpPr>
          <p:cNvPr id="376" name="TextBox 3"/>
          <p:cNvSpPr txBox="1"/>
          <p:nvPr/>
        </p:nvSpPr>
        <p:spPr>
          <a:xfrm>
            <a:off x="502919" y="6510528"/>
            <a:ext cx="640080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Блок 4 · Итоги</a:t>
            </a:r>
          </a:p>
        </p:txBody>
      </p:sp>
      <p:sp>
        <p:nvSpPr>
          <p:cNvPr id="377" name="TextBox 4"/>
          <p:cNvSpPr txBox="1"/>
          <p:nvPr/>
        </p:nvSpPr>
        <p:spPr>
          <a:xfrm>
            <a:off x="10972800" y="6510528"/>
            <a:ext cx="7315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E9E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38 / 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